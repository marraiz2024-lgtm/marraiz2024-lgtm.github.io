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[0:00–0:30] LO QUE PUEDES HACER
Duración de la escena: 30 segundos. Unidad y lección sin asignar.
GUION Y TIEMPOS: lee con calma; mantén las pausas del alumno. Las respuestas se revelan automáticamente en los segundos indicados. El avance automático está programado al final de la escena.
0s | ES: Hola. Hoy vas a hablar de lo que puedes hacer y pedir ayuda en inglés.
9s | ES: Usarás can y can’t para el presente. También conocerás dos usos de could.
20s | ES: Escucha los ejemplos. Cuando aparezca tu turno, piensa y responde en voz alta.
27s | PAUSA: Piensa en algo que sabes hacer (3 segundos)
No prolongues esta escena si usas avance automático. Para ajustar al grupo, pausa la presentación.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[0:30–1:10] SITUACIÓN
Duración de la escena: 40 segundos. Unidad y lección sin asignar.
GUION Y TIEMPOS: lee con calma; mantén las pausas del alumno. Las respuestas se revelan automáticamente en los segundos indicados. El avance automático está programado al final de la escena.
0s | ES: Imagina que llevas una caja pesada. Necesitas ayuda y haces esta pregunta.
9s | EN: Can you help me? [Solo Situación: voz baja y algo más rápida.]
14s | PAUSA: ¿Qué te está pidiendo? (4 segundos)
18s | ES: Te pide ayuda. Puedes responder así.
23s | EN: Yes, I can.
29s | ES: Can aparece en la pregunta y en la respuesta. Ahora mira cómo funciona.
37s | PAUSA: Vuelve a leer el diálogo (3 segundos)
Revelar bloque 2 a los 18s: Yes, I can.
No prolongues esta escena si usas avance automático. Para ajustar al grupo, pausa la presentación.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[1:10–1:55] CAN: HABILIDAD PRESENTE
Duración de la escena: 45 segundos. Unidad y lección sin asignar.
GUION Y TIEMPOS: lee con calma; mantén las pausas del alumno. Las respuestas se revelan automáticamente en los segundos indicados. El avance automático está programado al final de la escena.
0s | ES: Can expresa una habilidad en el presente. Si sabes nadar, puedes decir:
9s | EN: I can swim.
14s | PAUSA: Repite la frase (5 segundos)
19s | ES: Con she también usas can swim. Swim queda igual: sin to y sin ese final.
28s | EN: She can swim.
33s | ES: En una respuesta corta, can suele sonar claro. Escucha y repite.
39s | EN: Yes, I can.
42s | PAUSA: Repite: Yes, I can. (3 segundos)
Revelar bloque 2 a los 19s: She can swim.
Revelar bloque 3 a los 33s: Can
No prolongues esta escena si usas avance automático. Para ajustar al grupo, pausa la presentación.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[1:55–2:40] CAN’T: HABILIDAD NEGATIVA
Duración de la escena: 45 segundos. Unidad y lección sin asignar.
GUION Y TIEMPOS: lee con calma; mantén las pausas del alumno. Las respuestas se revelan automáticamente en los segundos indicados. El avance automático está programado al final de la escena.
0s | ES: Para una habilidad que no tienes, usa can’t. El verbo también queda en forma base.
10s | EN: I can’t drive.
14s | PAUSA: Repite sin añadir to (6 segundos)
20s | ES: Can’t es la contracción de cannot. Las dos formas expresan la misma idea.
28s | EN: I cannot drive.
32s | ES: En este modelo estadounidense, escucha la consonante final de can’t. Presta atención al contraste.
39s | EN: I can drive. I can’t drive.
43s | PAUSA: Observa el contraste (2 segundos)
Revelar bloque 2 a los 20s: I cannot drive.
Revelar bloque 3 a los 32s: Can’t
No prolongues esta escena si usas avance automático. Para ajustar al grupo, pausa la presentación.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[2:40–3:25] PREGUNTA CON CAN
Duración de la escena: 45 segundos. Unidad y lección sin asignar.
GUION Y TIEMPOS: lee con calma; mantén las pausas del alumno. Las respuestas se revelan automáticamente en los segundos indicados. El avance automático está programado al final de la escena.
0s | ES: Para preguntar por una habilidad, pon can antes de la persona. No necesitas do.
10s | EN: Can you swim?
14s | PAUSA: Responde según tu experiencia (6 segundos)
20s | ES: Puedes dar una respuesta corta. Escucha las dos opciones.
24s | EN: Yes, I can.
29s | EN: No, I can’t.
34s | ES: Para preguntar por ella, también pones can al inicio.
40s | EN: Can she swim?
43s | PAUSA: Lee la pregunta (2 segundos)
Revelar bloque 2 a los 24s: Yes, I can. / No, I can’t.
No prolongues esta escena si usas avance automático. Para ajustar al grupo, pausa la presentación.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[3:25–4:10] TU TURNO: CAN O CAN’T
Duración de la escena: 45 segundos. Unidad y lección sin asignar.
GUION Y TIEMPOS: lee con calma; mantén las pausas del alumno. Las respuestas se revelan automáticamente en los segundos indicados. El avance automático está programado al final de la escena.
0s | ES: Sabes nadar. Completa la frase con can o can’t.
8s | PAUSA: Di la frase completa (8 segundos)
16s | ES: Si sabes nadar, esta es la respuesta.
19s | EN: I can swim.
24s | ES: Ahora imagina que no sabes nadar. Cambia la frase.
29s | PAUSA: Di la nueva frase (5 segundos)
34s | EN: I can’t swim.
39s | ES: Can y can’t dejan el verbo igual. Lo que cambia es el significado.
Revelar bloque 2 a los 19s: I can swim.
Revelar bloque 3 a los 34s: I can’t swim.
No prolongues esta escena si usas avance automático. Para ajustar al grupo, pausa la presentación.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[4:10–4:55] COULD: HABILIDAD EN EL PASADO
Duración de la escena: 45 segundos. Unidad y lección sin asignar.
GUION Y TIEMPOS: lee con calma; mantén las pausas del alumno. Las respuestas se revelan automáticamente en los segundos indicados. El avance automático está programado al final de la escena.
0s | ES: Could puede expresar una habilidad general en el pasado. Por ejemplo, algo que sabías hacer de niño.
11s | EN: When I was ten, I could swim.
18s | PAUSA: ¿Habla de ahora o de antes? (4 segundos)
22s | ES: Habla de antes: cuando tenía diez años. Después de could, swim sigue en forma base.
34s | ES: En could, la ele no se pronuncia. Escucha y repite.
40s | EN: Could.
42s | PAUSA: Repite: could (3 segundos)
Revelar bloque 2 a los 22s: Could + verbo en forma base
Revelar bloque 3 a los 34s: Could
No prolongues esta escena si usas avance automático. Para ajustar al grupo, pausa la presentación.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[4:55–5:40] COULD: UNA PETICIÓN AMABLE
Duración de la escena: 45 segundos. Unidad y lección sin asignar.
GUION Y TIEMPOS: lee con calma; mantén las pausas del alumno. Las respuestas se revelan automáticamente en los segundos indicados. El avance automático está programado al final de la escena.
0s | ES: Could también sirve para pedir algo de forma amable. Imagina que necesitas ayuda ahora.
10s | EN: Could you help me, please?
16s | PAUSA: Repite la petición (6 segundos)
22s | ES: En esta pregunta, could no habla del pasado. Hace la petición más amable.
31s | ES: Can you help me? también es una petición válida. Could suele sonar más cortés.
40s | EN: Could you help me, please?
Revelar bloque 2 a los 22s: La ayuda se pide ahora.
No prolongues esta escena si usas avance automático. Para ajustar al grupo, pausa la presentación.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[5:40–6:30] ELIGE SEGÚN EL CONTEXTO
Duración de la escena: 50 segundos. Unidad y lección sin asignar.
GUION Y TIEMPOS: lee con calma; mantén las pausas del alumno. Las respuestas se revelan automáticamente en los segundos indicados. El avance automático está programado al final de la escena.
0s | ES: Completa esta frase sobre una habilidad del pasado. Elige can o could.
9s | PAUSA: Di la frase completa (7 segundos)
16s | ES: La referencia a los diez años nos sitúa en el pasado.
19s | EN: When I was ten, I could swim.
27s | ES: Ahora necesitas ayuda. Pídela de forma amable con could.
34s | PAUSA: Haz tu petición en voz alta (5 segundos)
39s | EN: Could you help me, please?
45s | ES: La misma palabra puede tener otro uso según el contexto.
Revelar bloque 2 a los 19s: When I was ten, I could swim.
Revelar bloque 3 a los 39s: Could you help me, please?
No prolongues esta escena si usas avance automático. Para ajustar al grupo, pausa la presentación.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[6:30–7:20] DE ESCUCHAR A DECIR
Duración de la escena: 50 segundos. Unidad y lección sin asignar.
GUION Y TIEMPOS: lee con calma; mantén las pausas del alumno. Las respuestas se revelan automáticamente en los segundos indicados. El avance automático está programado al final de la escena.
0s | ES: Di una habilidad que tienes y otra que todavía no tienes. Usa can y can’t.
10s | PAUSA: Di tus propias frases (8 segundos)
18s | ES: Estas son respuestas de ejemplo. Las tuyas pueden ser diferentes.
21s | EN: I can cook. I can’t drive.
29s | ES: Ahora pide ayuda con could y please.
34s | PAUSA: Di tu petición (5 segundos)
39s | EN: Could you help me, please?
45s | ES: Si necesitas repetir alguna escena, puedes elegirla abajo.
Revelar bloque 2 a los 21s: I can cook. I can’t drive.
Revelar bloque 3 a los 39s: Could you help me, please?
No prolongues esta escena si usas avance automático. Para ajustar al grupo, pausa la presentación.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[7:20–8:00] PREGUNTA DE SALIDA
Duración de la escena: 40 segundos. Unidad y lección sin asignar.
GUION Y TIEMPOS: lee con calma; mantén las pausas del alumno. Las respuestas se revelan automáticamente en los segundos indicados. El avance automático está programado al final de la escena.
0s | ES: Para terminar, corrige esta frase. Hay una palabra que sobra.
7s | EN: She can to swim.
11s | PAUSA: Di la frase corregida (7 segundos)
18s | EN: She can swim.
23s | ES: Quitamos to. El verbo queda en forma base.
28s | ES: Hoy usaste can y can’t para tus habilidades. Conociste could para el pasado y para pedir ayuda.
38s | ES: Hasta la próxima.
Revelar bloque 2 a los 18s: She can swim.
Revelar bloque 3 a los 28s: Tus habilidades
No prolongues esta escena si usas avance automático. Para ajustar al grupo, pausa la presentación.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B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18872"/>
            <a:ext cx="548640" cy="54864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4" name="Logo MM"/>
          <p:cNvSpPr/>
          <p:nvPr/>
        </p:nvSpPr>
        <p:spPr>
          <a:xfrm>
            <a:off x="457200" y="118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D1B3E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MM</a:t>
            </a:r>
            <a:endParaRPr lang="en-US" sz="2000" dirty="0"/>
          </a:p>
        </p:txBody>
      </p:sp>
      <p:sp>
        <p:nvSpPr>
          <p:cNvPr id="5" name="Lema"/>
          <p:cNvSpPr/>
          <p:nvPr/>
        </p:nvSpPr>
        <p:spPr>
          <a:xfrm>
            <a:off x="1188720" y="11887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Tiny Tips, Big Progress</a:t>
            </a:r>
            <a:endParaRPr lang="en-US" sz="1600" dirty="0"/>
          </a:p>
        </p:txBody>
      </p:sp>
      <p:sp>
        <p:nvSpPr>
          <p:cNvPr id="6" name="Pastilla nivel"/>
          <p:cNvSpPr/>
          <p:nvPr/>
        </p:nvSpPr>
        <p:spPr>
          <a:xfrm>
            <a:off x="8915400" y="182880"/>
            <a:ext cx="2743200" cy="411480"/>
          </a:xfrm>
          <a:prstGeom prst="roundRect">
            <a:avLst>
              <a:gd name="adj" fmla="val 26667"/>
            </a:avLst>
          </a:prstGeom>
          <a:solidFill>
            <a:srgbClr val="FFD23F"/>
          </a:solidFill>
          <a:ln w="19050">
            <a:solidFill>
              <a:srgbClr val="0D1B3E"/>
            </a:solidFill>
            <a:prstDash val="solid"/>
          </a:ln>
        </p:spPr>
      </p:sp>
      <p:sp>
        <p:nvSpPr>
          <p:cNvPr id="7" name="Nivel"/>
          <p:cNvSpPr/>
          <p:nvPr/>
        </p:nvSpPr>
        <p:spPr>
          <a:xfrm>
            <a:off x="8915400" y="1828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D1B3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Beginner English Tips</a:t>
            </a:r>
            <a:endParaRPr lang="en-US" sz="1400" dirty="0"/>
          </a:p>
        </p:txBody>
      </p:sp>
      <p:sp>
        <p:nvSpPr>
          <p:cNvPr id="8" name="Pie"/>
          <p:cNvSpPr/>
          <p:nvPr/>
        </p:nvSpPr>
        <p:spPr>
          <a:xfrm>
            <a:off x="548640" y="6483096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D1B3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MMercedesEnglish | Beginner | Unidad y lección sin asignar | Can, can’t y could</a:t>
            </a:r>
            <a:endParaRPr lang="en-US" sz="1000" dirty="0"/>
          </a:p>
        </p:txBody>
      </p:sp>
      <p:sp>
        <p:nvSpPr>
          <p:cNvPr id="9" name="Número"/>
          <p:cNvSpPr/>
          <p:nvPr/>
        </p:nvSpPr>
        <p:spPr>
          <a:xfrm>
            <a:off x="11018520" y="6483096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D1B3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Microclase"/>
          <p:cNvSpPr/>
          <p:nvPr/>
        </p:nvSpPr>
        <p:spPr>
          <a:xfrm>
            <a:off x="548640" y="1188720"/>
            <a:ext cx="2743200" cy="457200"/>
          </a:xfrm>
          <a:prstGeom prst="roundRect">
            <a:avLst>
              <a:gd name="adj" fmla="val 24000"/>
            </a:avLst>
          </a:prstGeom>
          <a:solidFill>
            <a:srgbClr val="FFD23F"/>
          </a:solidFill>
          <a:ln w="19050">
            <a:solidFill>
              <a:srgbClr val="0D1B3E"/>
            </a:solidFill>
            <a:prstDash val="solid"/>
          </a:ln>
        </p:spPr>
      </p:sp>
      <p:sp>
        <p:nvSpPr>
          <p:cNvPr id="11" name="Microclase texto"/>
          <p:cNvSpPr/>
          <p:nvPr/>
        </p:nvSpPr>
        <p:spPr>
          <a:xfrm>
            <a:off x="548640" y="1188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D1B3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Microclase · 8 min</a:t>
            </a:r>
            <a:endParaRPr lang="en-US" sz="1600" dirty="0"/>
          </a:p>
        </p:txBody>
      </p:sp>
      <p:sp>
        <p:nvSpPr>
          <p:cNvPr id="12" name="Portada título"/>
          <p:cNvSpPr/>
          <p:nvPr/>
        </p:nvSpPr>
        <p:spPr>
          <a:xfrm>
            <a:off x="548640" y="1828800"/>
            <a:ext cx="67665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6400" b="1" dirty="0">
                <a:solidFill>
                  <a:srgbClr val="0D1B3E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CAN, CAN’T</a:t>
            </a:r>
            <a:endParaRPr lang="en-US" sz="6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400" b="1" dirty="0">
                <a:solidFill>
                  <a:srgbClr val="0D1B3E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Y COULD</a:t>
            </a:r>
            <a:endParaRPr lang="en-US" sz="6400" dirty="0"/>
          </a:p>
        </p:txBody>
      </p:sp>
      <p:sp>
        <p:nvSpPr>
          <p:cNvPr id="13" name="Portada objetivo"/>
          <p:cNvSpPr/>
          <p:nvPr/>
        </p:nvSpPr>
        <p:spPr>
          <a:xfrm>
            <a:off x="548640" y="3977640"/>
            <a:ext cx="6766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0D1B3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Habla de tus habilidades.</a:t>
            </a:r>
            <a:endParaRPr lang="en-US" sz="2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0D1B3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Pide ayuda con una frase amable.</a:t>
            </a:r>
            <a:endParaRPr lang="en-US" sz="2800" dirty="0"/>
          </a:p>
        </p:txBody>
      </p:sp>
      <p:pic>
        <p:nvPicPr>
          <p:cNvPr id="14" name="Avatar Mercedes" descr="Mercedes, profesora de MMercedesEnglis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1143000"/>
            <a:ext cx="3512548" cy="4389120"/>
          </a:xfrm>
          <a:prstGeom prst="rect">
            <a:avLst/>
          </a:prstGeom>
        </p:spPr>
      </p:pic>
      <p:sp>
        <p:nvSpPr>
          <p:cNvPr id="15" name="Rango de tiempo"/>
          <p:cNvSpPr/>
          <p:nvPr/>
        </p:nvSpPr>
        <p:spPr>
          <a:xfrm>
            <a:off x="548640" y="56875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D1B3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0:00–0:30</a:t>
            </a:r>
            <a:endParaRPr lang="en-US" sz="1800" dirty="0"/>
          </a:p>
        </p:txBody>
      </p:sp>
    </p:spTree>
  </p:cSld>
  <p:clrMapOvr>
    <a:masterClrMapping/>
  </p:clrMapOvr>
  <p:transition advClick="0" advTm="30000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B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18872"/>
            <a:ext cx="548640" cy="54864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4" name="Logo MM"/>
          <p:cNvSpPr/>
          <p:nvPr/>
        </p:nvSpPr>
        <p:spPr>
          <a:xfrm>
            <a:off x="457200" y="118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D1B3E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MM</a:t>
            </a:r>
            <a:endParaRPr lang="en-US" sz="2000" dirty="0"/>
          </a:p>
        </p:txBody>
      </p:sp>
      <p:sp>
        <p:nvSpPr>
          <p:cNvPr id="5" name="Lema"/>
          <p:cNvSpPr/>
          <p:nvPr/>
        </p:nvSpPr>
        <p:spPr>
          <a:xfrm>
            <a:off x="1188720" y="11887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Tiny Tips, Big Progress</a:t>
            </a:r>
            <a:endParaRPr lang="en-US" sz="1600" dirty="0"/>
          </a:p>
        </p:txBody>
      </p:sp>
      <p:sp>
        <p:nvSpPr>
          <p:cNvPr id="6" name="Pastilla nivel"/>
          <p:cNvSpPr/>
          <p:nvPr/>
        </p:nvSpPr>
        <p:spPr>
          <a:xfrm>
            <a:off x="8915400" y="182880"/>
            <a:ext cx="2743200" cy="411480"/>
          </a:xfrm>
          <a:prstGeom prst="roundRect">
            <a:avLst>
              <a:gd name="adj" fmla="val 26667"/>
            </a:avLst>
          </a:prstGeom>
          <a:solidFill>
            <a:srgbClr val="FFD23F"/>
          </a:solidFill>
          <a:ln w="19050">
            <a:solidFill>
              <a:srgbClr val="0D1B3E"/>
            </a:solidFill>
            <a:prstDash val="solid"/>
          </a:ln>
        </p:spPr>
      </p:sp>
      <p:sp>
        <p:nvSpPr>
          <p:cNvPr id="7" name="Nivel"/>
          <p:cNvSpPr/>
          <p:nvPr/>
        </p:nvSpPr>
        <p:spPr>
          <a:xfrm>
            <a:off x="8915400" y="1828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D1B3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Beginner English Tips</a:t>
            </a:r>
            <a:endParaRPr lang="en-US" sz="1400" dirty="0"/>
          </a:p>
        </p:txBody>
      </p:sp>
      <p:sp>
        <p:nvSpPr>
          <p:cNvPr id="8" name="Pie"/>
          <p:cNvSpPr/>
          <p:nvPr/>
        </p:nvSpPr>
        <p:spPr>
          <a:xfrm>
            <a:off x="548640" y="6483096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D1B3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MMercedesEnglish | Beginner | Unidad y lección sin asignar | Can, can’t y could</a:t>
            </a:r>
            <a:endParaRPr lang="en-US" sz="1000" dirty="0"/>
          </a:p>
        </p:txBody>
      </p:sp>
      <p:sp>
        <p:nvSpPr>
          <p:cNvPr id="9" name="Número"/>
          <p:cNvSpPr/>
          <p:nvPr/>
        </p:nvSpPr>
        <p:spPr>
          <a:xfrm>
            <a:off x="11018520" y="6483096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D1B3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MY NOTES"/>
          <p:cNvSpPr/>
          <p:nvPr/>
        </p:nvSpPr>
        <p:spPr>
          <a:xfrm>
            <a:off x="548640" y="590702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D1B3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MY NOTES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783080" y="6126480"/>
            <a:ext cx="9857232" cy="0"/>
          </a:xfrm>
          <a:prstGeom prst="line">
            <a:avLst/>
          </a:prstGeom>
          <a:noFill/>
          <a:ln w="12700">
            <a:solidFill>
              <a:srgbClr val="0D1B3E"/>
            </a:solidFill>
            <a:prstDash val="sysDot"/>
          </a:ln>
        </p:spPr>
      </p:sp>
      <p:sp>
        <p:nvSpPr>
          <p:cNvPr id="12" name="Título"/>
          <p:cNvSpPr/>
          <p:nvPr/>
        </p:nvSpPr>
        <p:spPr>
          <a:xfrm>
            <a:off x="548640" y="960120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0D1B3E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SITUACIÓN</a:t>
            </a:r>
            <a:endParaRPr lang="en-US" sz="3600" dirty="0"/>
          </a:p>
        </p:txBody>
      </p:sp>
      <p:sp>
        <p:nvSpPr>
          <p:cNvPr id="13" name="Tiempo"/>
          <p:cNvSpPr/>
          <p:nvPr/>
        </p:nvSpPr>
        <p:spPr>
          <a:xfrm>
            <a:off x="9875520" y="1014984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D1B3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0:30–1:10</a:t>
            </a:r>
            <a:endParaRPr lang="en-US" sz="1600" dirty="0"/>
          </a:p>
        </p:txBody>
      </p:sp>
      <p:sp>
        <p:nvSpPr>
          <p:cNvPr id="14" name="Block 0 card"/>
          <p:cNvSpPr/>
          <p:nvPr/>
        </p:nvSpPr>
        <p:spPr>
          <a:xfrm>
            <a:off x="548640" y="1874520"/>
            <a:ext cx="5440680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9050">
            <a:solidFill>
              <a:srgbClr val="0D1B3E"/>
            </a:solidFill>
            <a:prstDash val="solid"/>
          </a:ln>
        </p:spPr>
      </p:sp>
      <p:sp>
        <p:nvSpPr>
          <p:cNvPr id="15" name="Block 0 label"/>
          <p:cNvSpPr/>
          <p:nvPr/>
        </p:nvSpPr>
        <p:spPr>
          <a:xfrm>
            <a:off x="777240" y="2039112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D1B3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Una caja pesada</a:t>
            </a:r>
            <a:endParaRPr lang="en-US" sz="2400" dirty="0"/>
          </a:p>
        </p:txBody>
      </p:sp>
      <p:sp>
        <p:nvSpPr>
          <p:cNvPr id="16" name="Block 0 text"/>
          <p:cNvSpPr/>
          <p:nvPr/>
        </p:nvSpPr>
        <p:spPr>
          <a:xfrm>
            <a:off x="777240" y="2624328"/>
            <a:ext cx="4983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i="1" dirty="0">
                <a:solidFill>
                  <a:srgbClr val="0D1B3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Can you help me?</a:t>
            </a:r>
            <a:endParaRPr lang="en-US" sz="2600" dirty="0"/>
          </a:p>
        </p:txBody>
      </p:sp>
      <p:sp>
        <p:nvSpPr>
          <p:cNvPr id="17" name="Block 0 detail"/>
          <p:cNvSpPr/>
          <p:nvPr/>
        </p:nvSpPr>
        <p:spPr>
          <a:xfrm>
            <a:off x="777240" y="3977640"/>
            <a:ext cx="4983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0D1B3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¿Puedes ayudarme?</a:t>
            </a:r>
            <a:endParaRPr lang="en-US" sz="2400" dirty="0"/>
          </a:p>
        </p:txBody>
      </p:sp>
      <p:sp>
        <p:nvSpPr>
          <p:cNvPr id="18" name="Block 1 card"/>
          <p:cNvSpPr/>
          <p:nvPr/>
        </p:nvSpPr>
        <p:spPr>
          <a:xfrm>
            <a:off x="6190488" y="1874520"/>
            <a:ext cx="5440680" cy="3520440"/>
          </a:xfrm>
          <a:prstGeom prst="roundRect">
            <a:avLst>
              <a:gd name="adj" fmla="val 3117"/>
            </a:avLst>
          </a:prstGeom>
          <a:solidFill>
            <a:srgbClr val="FFD23F"/>
          </a:solidFill>
          <a:ln w="19050">
            <a:solidFill>
              <a:srgbClr val="0D1B3E"/>
            </a:solidFill>
            <a:prstDash val="solid"/>
          </a:ln>
        </p:spPr>
      </p:sp>
      <p:sp>
        <p:nvSpPr>
          <p:cNvPr id="19" name="Block 1 label"/>
          <p:cNvSpPr/>
          <p:nvPr/>
        </p:nvSpPr>
        <p:spPr>
          <a:xfrm>
            <a:off x="6419088" y="2039112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D1B3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Tu respuesta</a:t>
            </a:r>
            <a:endParaRPr lang="en-US" sz="2400" dirty="0"/>
          </a:p>
        </p:txBody>
      </p:sp>
      <p:sp>
        <p:nvSpPr>
          <p:cNvPr id="20" name="Block 1 text"/>
          <p:cNvSpPr/>
          <p:nvPr/>
        </p:nvSpPr>
        <p:spPr>
          <a:xfrm>
            <a:off x="6419088" y="2624328"/>
            <a:ext cx="4983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i="1" dirty="0">
                <a:solidFill>
                  <a:srgbClr val="0D1B3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Yes, I can.</a:t>
            </a:r>
            <a:endParaRPr lang="en-US" sz="2600" dirty="0"/>
          </a:p>
        </p:txBody>
      </p:sp>
      <p:sp>
        <p:nvSpPr>
          <p:cNvPr id="21" name="Block 1 detail"/>
          <p:cNvSpPr/>
          <p:nvPr/>
        </p:nvSpPr>
        <p:spPr>
          <a:xfrm>
            <a:off x="6419088" y="3977640"/>
            <a:ext cx="4983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0D1B3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Sí, puedo.</a:t>
            </a:r>
            <a:endParaRPr lang="en-US" sz="2400" dirty="0"/>
          </a:p>
        </p:txBody>
      </p:sp>
    </p:spTree>
  </p:cSld>
  <p:clrMapOvr>
    <a:masterClrMapping/>
  </p:clrMapOvr>
  <p:transition spd="med" advClick="0" advTm="40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dur="indefinite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800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8000"/>
                            </p:stCondLst>
                            <p:childTnLst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8000"/>
                            </p:stCondLst>
                            <p:childTnLst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8000"/>
                            </p:stCondLst>
                            <p:childTnLst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8" grpId="0"/>
      <p:bldP spid="19" grpId="0"/>
      <p:bldP spid="20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B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18872"/>
            <a:ext cx="548640" cy="54864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4" name="Logo MM"/>
          <p:cNvSpPr/>
          <p:nvPr/>
        </p:nvSpPr>
        <p:spPr>
          <a:xfrm>
            <a:off x="457200" y="118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D1B3E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MM</a:t>
            </a:r>
            <a:endParaRPr lang="en-US" sz="2000" dirty="0"/>
          </a:p>
        </p:txBody>
      </p:sp>
      <p:sp>
        <p:nvSpPr>
          <p:cNvPr id="5" name="Lema"/>
          <p:cNvSpPr/>
          <p:nvPr/>
        </p:nvSpPr>
        <p:spPr>
          <a:xfrm>
            <a:off x="1188720" y="11887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Tiny Tips, Big Progress</a:t>
            </a:r>
            <a:endParaRPr lang="en-US" sz="1600" dirty="0"/>
          </a:p>
        </p:txBody>
      </p:sp>
      <p:sp>
        <p:nvSpPr>
          <p:cNvPr id="6" name="Pastilla nivel"/>
          <p:cNvSpPr/>
          <p:nvPr/>
        </p:nvSpPr>
        <p:spPr>
          <a:xfrm>
            <a:off x="8915400" y="182880"/>
            <a:ext cx="2743200" cy="411480"/>
          </a:xfrm>
          <a:prstGeom prst="roundRect">
            <a:avLst>
              <a:gd name="adj" fmla="val 26667"/>
            </a:avLst>
          </a:prstGeom>
          <a:solidFill>
            <a:srgbClr val="FFD23F"/>
          </a:solidFill>
          <a:ln w="19050">
            <a:solidFill>
              <a:srgbClr val="0D1B3E"/>
            </a:solidFill>
            <a:prstDash val="solid"/>
          </a:ln>
        </p:spPr>
      </p:sp>
      <p:sp>
        <p:nvSpPr>
          <p:cNvPr id="7" name="Nivel"/>
          <p:cNvSpPr/>
          <p:nvPr/>
        </p:nvSpPr>
        <p:spPr>
          <a:xfrm>
            <a:off x="8915400" y="1828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D1B3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Beginner English Tips</a:t>
            </a:r>
            <a:endParaRPr lang="en-US" sz="1400" dirty="0"/>
          </a:p>
        </p:txBody>
      </p:sp>
      <p:sp>
        <p:nvSpPr>
          <p:cNvPr id="8" name="Pie"/>
          <p:cNvSpPr/>
          <p:nvPr/>
        </p:nvSpPr>
        <p:spPr>
          <a:xfrm>
            <a:off x="548640" y="6483096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D1B3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MMercedesEnglish | Beginner | Unidad y lección sin asignar | Can, can’t y could</a:t>
            </a:r>
            <a:endParaRPr lang="en-US" sz="1000" dirty="0"/>
          </a:p>
        </p:txBody>
      </p:sp>
      <p:sp>
        <p:nvSpPr>
          <p:cNvPr id="9" name="Número"/>
          <p:cNvSpPr/>
          <p:nvPr/>
        </p:nvSpPr>
        <p:spPr>
          <a:xfrm>
            <a:off x="11018520" y="6483096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D1B3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3</a:t>
            </a:r>
            <a:endParaRPr lang="en-US" sz="1100" dirty="0"/>
          </a:p>
        </p:txBody>
      </p:sp>
      <p:sp>
        <p:nvSpPr>
          <p:cNvPr id="10" name="MY NOTES"/>
          <p:cNvSpPr/>
          <p:nvPr/>
        </p:nvSpPr>
        <p:spPr>
          <a:xfrm>
            <a:off x="548640" y="590702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D1B3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MY NOTES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783080" y="6126480"/>
            <a:ext cx="9857232" cy="0"/>
          </a:xfrm>
          <a:prstGeom prst="line">
            <a:avLst/>
          </a:prstGeom>
          <a:noFill/>
          <a:ln w="12700">
            <a:solidFill>
              <a:srgbClr val="0D1B3E"/>
            </a:solidFill>
            <a:prstDash val="sysDot"/>
          </a:ln>
        </p:spPr>
      </p:sp>
      <p:sp>
        <p:nvSpPr>
          <p:cNvPr id="12" name="Título"/>
          <p:cNvSpPr/>
          <p:nvPr/>
        </p:nvSpPr>
        <p:spPr>
          <a:xfrm>
            <a:off x="548640" y="960120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0D1B3E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CAN: HABILIDAD PRESENTE</a:t>
            </a:r>
            <a:endParaRPr lang="en-US" sz="3600" dirty="0"/>
          </a:p>
        </p:txBody>
      </p:sp>
      <p:sp>
        <p:nvSpPr>
          <p:cNvPr id="13" name="Tiempo"/>
          <p:cNvSpPr/>
          <p:nvPr/>
        </p:nvSpPr>
        <p:spPr>
          <a:xfrm>
            <a:off x="9875520" y="1014984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D1B3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1:10–1:55</a:t>
            </a:r>
            <a:endParaRPr lang="en-US" sz="1600" dirty="0"/>
          </a:p>
        </p:txBody>
      </p:sp>
      <p:sp>
        <p:nvSpPr>
          <p:cNvPr id="14" name="Block 0 card"/>
          <p:cNvSpPr/>
          <p:nvPr/>
        </p:nvSpPr>
        <p:spPr>
          <a:xfrm>
            <a:off x="548640" y="1874520"/>
            <a:ext cx="544068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9050">
            <a:solidFill>
              <a:srgbClr val="0D1B3E"/>
            </a:solidFill>
            <a:prstDash val="solid"/>
          </a:ln>
        </p:spPr>
      </p:sp>
      <p:sp>
        <p:nvSpPr>
          <p:cNvPr id="15" name="Block 0 label"/>
          <p:cNvSpPr/>
          <p:nvPr/>
        </p:nvSpPr>
        <p:spPr>
          <a:xfrm>
            <a:off x="777240" y="2039112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D1B3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Algo que sabes hacer</a:t>
            </a:r>
            <a:endParaRPr lang="en-US" sz="2400" dirty="0"/>
          </a:p>
        </p:txBody>
      </p:sp>
      <p:sp>
        <p:nvSpPr>
          <p:cNvPr id="16" name="Block 0 text"/>
          <p:cNvSpPr/>
          <p:nvPr/>
        </p:nvSpPr>
        <p:spPr>
          <a:xfrm>
            <a:off x="777240" y="2624328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i="1" dirty="0">
                <a:solidFill>
                  <a:srgbClr val="0D1B3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 can swim.</a:t>
            </a:r>
            <a:endParaRPr lang="en-US" sz="2600" dirty="0"/>
          </a:p>
        </p:txBody>
      </p:sp>
      <p:sp>
        <p:nvSpPr>
          <p:cNvPr id="17" name="Block 0 detail"/>
          <p:cNvSpPr/>
          <p:nvPr/>
        </p:nvSpPr>
        <p:spPr>
          <a:xfrm>
            <a:off x="777240" y="3447288"/>
            <a:ext cx="4983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0D1B3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Sé nadar.</a:t>
            </a:r>
            <a:endParaRPr lang="en-US" sz="2400" dirty="0"/>
          </a:p>
        </p:txBody>
      </p:sp>
      <p:sp>
        <p:nvSpPr>
          <p:cNvPr id="18" name="Block 1 card"/>
          <p:cNvSpPr/>
          <p:nvPr/>
        </p:nvSpPr>
        <p:spPr>
          <a:xfrm>
            <a:off x="6190488" y="1874520"/>
            <a:ext cx="5440680" cy="2331720"/>
          </a:xfrm>
          <a:prstGeom prst="roundRect">
            <a:avLst>
              <a:gd name="adj" fmla="val 4706"/>
            </a:avLst>
          </a:prstGeom>
          <a:solidFill>
            <a:srgbClr val="FFD23F"/>
          </a:solidFill>
          <a:ln w="19050">
            <a:solidFill>
              <a:srgbClr val="0D1B3E"/>
            </a:solidFill>
            <a:prstDash val="solid"/>
          </a:ln>
        </p:spPr>
      </p:sp>
      <p:sp>
        <p:nvSpPr>
          <p:cNvPr id="19" name="Block 1 label"/>
          <p:cNvSpPr/>
          <p:nvPr/>
        </p:nvSpPr>
        <p:spPr>
          <a:xfrm>
            <a:off x="6419088" y="2039112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D1B3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La forma del verbo</a:t>
            </a:r>
            <a:endParaRPr lang="en-US" sz="2400" dirty="0"/>
          </a:p>
        </p:txBody>
      </p:sp>
      <p:sp>
        <p:nvSpPr>
          <p:cNvPr id="20" name="Block 1 text"/>
          <p:cNvSpPr/>
          <p:nvPr/>
        </p:nvSpPr>
        <p:spPr>
          <a:xfrm>
            <a:off x="6419088" y="2624328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i="1" dirty="0">
                <a:solidFill>
                  <a:srgbClr val="0D1B3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She can swim.</a:t>
            </a:r>
            <a:endParaRPr lang="en-US" sz="2600" dirty="0"/>
          </a:p>
        </p:txBody>
      </p:sp>
      <p:sp>
        <p:nvSpPr>
          <p:cNvPr id="21" name="Block 1 detail"/>
          <p:cNvSpPr/>
          <p:nvPr/>
        </p:nvSpPr>
        <p:spPr>
          <a:xfrm>
            <a:off x="6419088" y="3447288"/>
            <a:ext cx="4983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0D1B3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Después de can, usa el verbo sin to y sin -s.</a:t>
            </a:r>
            <a:endParaRPr lang="en-US" sz="2400" dirty="0"/>
          </a:p>
        </p:txBody>
      </p:sp>
      <p:sp>
        <p:nvSpPr>
          <p:cNvPr id="22" name="Block 2 card"/>
          <p:cNvSpPr/>
          <p:nvPr/>
        </p:nvSpPr>
        <p:spPr>
          <a:xfrm>
            <a:off x="548640" y="4434840"/>
            <a:ext cx="11091672" cy="1188720"/>
          </a:xfrm>
          <a:prstGeom prst="roundRect">
            <a:avLst>
              <a:gd name="adj" fmla="val 9231"/>
            </a:avLst>
          </a:prstGeom>
          <a:solidFill>
            <a:srgbClr val="FFD23F"/>
          </a:solidFill>
          <a:ln w="19050">
            <a:solidFill>
              <a:srgbClr val="0D1B3E"/>
            </a:solidFill>
            <a:prstDash val="solid"/>
          </a:ln>
        </p:spPr>
      </p:sp>
      <p:sp>
        <p:nvSpPr>
          <p:cNvPr id="23" name="Block 2 label"/>
          <p:cNvSpPr/>
          <p:nvPr/>
        </p:nvSpPr>
        <p:spPr>
          <a:xfrm>
            <a:off x="749808" y="452628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BE9100"/>
                </a:solidFill>
                <a:latin typeface="Nothing You Could Do" pitchFamily="34" charset="0"/>
                <a:ea typeface="Nothing You Could Do" pitchFamily="34" charset="-122"/>
                <a:cs typeface="Nothing You Could Do" pitchFamily="34" charset="-120"/>
              </a:rPr>
              <a:t>Tip Mercedes</a:t>
            </a:r>
            <a:endParaRPr lang="en-US" sz="2400" dirty="0"/>
          </a:p>
        </p:txBody>
      </p:sp>
      <p:sp>
        <p:nvSpPr>
          <p:cNvPr id="24" name="Block 2 text"/>
          <p:cNvSpPr/>
          <p:nvPr/>
        </p:nvSpPr>
        <p:spPr>
          <a:xfrm>
            <a:off x="3246120" y="4544568"/>
            <a:ext cx="36576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i="1" dirty="0">
                <a:solidFill>
                  <a:srgbClr val="0D1B3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Can</a:t>
            </a:r>
            <a:endParaRPr lang="en-US" sz="2600" dirty="0"/>
          </a:p>
        </p:txBody>
      </p:sp>
      <p:sp>
        <p:nvSpPr>
          <p:cNvPr id="25" name="Block 2 detail"/>
          <p:cNvSpPr/>
          <p:nvPr/>
        </p:nvSpPr>
        <p:spPr>
          <a:xfrm>
            <a:off x="7132320" y="4526280"/>
            <a:ext cx="42793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0D1B3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En una respuesta corta, can suele sonar claro.</a:t>
            </a:r>
            <a:endParaRPr lang="en-US" sz="2400" dirty="0"/>
          </a:p>
        </p:txBody>
      </p:sp>
    </p:spTree>
  </p:cSld>
  <p:clrMapOvr>
    <a:masterClrMapping/>
  </p:clrMapOvr>
  <p:transition spd="med" advClick="0" advTm="45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dur="indefinite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900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9000"/>
                            </p:stCondLst>
                            <p:childTnLst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9000"/>
                            </p:stCondLst>
                            <p:childTnLst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9000"/>
                            </p:stCondLst>
                            <p:childTnLst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3000"/>
                            </p:stCondLst>
                            <p:childTnLst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3000"/>
                            </p:stCondLst>
                            <p:childTnLst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3000"/>
                            </p:stCondLst>
                            <p:childTnLst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3000"/>
                            </p:stCondLst>
                            <p:childTnLst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B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18872"/>
            <a:ext cx="548640" cy="54864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4" name="Logo MM"/>
          <p:cNvSpPr/>
          <p:nvPr/>
        </p:nvSpPr>
        <p:spPr>
          <a:xfrm>
            <a:off x="457200" y="118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D1B3E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MM</a:t>
            </a:r>
            <a:endParaRPr lang="en-US" sz="2000" dirty="0"/>
          </a:p>
        </p:txBody>
      </p:sp>
      <p:sp>
        <p:nvSpPr>
          <p:cNvPr id="5" name="Lema"/>
          <p:cNvSpPr/>
          <p:nvPr/>
        </p:nvSpPr>
        <p:spPr>
          <a:xfrm>
            <a:off x="1188720" y="11887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Tiny Tips, Big Progress</a:t>
            </a:r>
            <a:endParaRPr lang="en-US" sz="1600" dirty="0"/>
          </a:p>
        </p:txBody>
      </p:sp>
      <p:sp>
        <p:nvSpPr>
          <p:cNvPr id="6" name="Pastilla nivel"/>
          <p:cNvSpPr/>
          <p:nvPr/>
        </p:nvSpPr>
        <p:spPr>
          <a:xfrm>
            <a:off x="8915400" y="182880"/>
            <a:ext cx="2743200" cy="411480"/>
          </a:xfrm>
          <a:prstGeom prst="roundRect">
            <a:avLst>
              <a:gd name="adj" fmla="val 26667"/>
            </a:avLst>
          </a:prstGeom>
          <a:solidFill>
            <a:srgbClr val="FFD23F"/>
          </a:solidFill>
          <a:ln w="19050">
            <a:solidFill>
              <a:srgbClr val="0D1B3E"/>
            </a:solidFill>
            <a:prstDash val="solid"/>
          </a:ln>
        </p:spPr>
      </p:sp>
      <p:sp>
        <p:nvSpPr>
          <p:cNvPr id="7" name="Nivel"/>
          <p:cNvSpPr/>
          <p:nvPr/>
        </p:nvSpPr>
        <p:spPr>
          <a:xfrm>
            <a:off x="8915400" y="1828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D1B3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Beginner English Tips</a:t>
            </a:r>
            <a:endParaRPr lang="en-US" sz="1400" dirty="0"/>
          </a:p>
        </p:txBody>
      </p:sp>
      <p:sp>
        <p:nvSpPr>
          <p:cNvPr id="8" name="Pie"/>
          <p:cNvSpPr/>
          <p:nvPr/>
        </p:nvSpPr>
        <p:spPr>
          <a:xfrm>
            <a:off x="548640" y="6483096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D1B3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MMercedesEnglish | Beginner | Unidad y lección sin asignar | Can, can’t y could</a:t>
            </a:r>
            <a:endParaRPr lang="en-US" sz="1000" dirty="0"/>
          </a:p>
        </p:txBody>
      </p:sp>
      <p:sp>
        <p:nvSpPr>
          <p:cNvPr id="9" name="Número"/>
          <p:cNvSpPr/>
          <p:nvPr/>
        </p:nvSpPr>
        <p:spPr>
          <a:xfrm>
            <a:off x="11018520" y="6483096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D1B3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4</a:t>
            </a:r>
            <a:endParaRPr lang="en-US" sz="1100" dirty="0"/>
          </a:p>
        </p:txBody>
      </p:sp>
      <p:sp>
        <p:nvSpPr>
          <p:cNvPr id="10" name="MY NOTES"/>
          <p:cNvSpPr/>
          <p:nvPr/>
        </p:nvSpPr>
        <p:spPr>
          <a:xfrm>
            <a:off x="548640" y="590702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D1B3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MY NOTES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783080" y="6126480"/>
            <a:ext cx="9857232" cy="0"/>
          </a:xfrm>
          <a:prstGeom prst="line">
            <a:avLst/>
          </a:prstGeom>
          <a:noFill/>
          <a:ln w="12700">
            <a:solidFill>
              <a:srgbClr val="0D1B3E"/>
            </a:solidFill>
            <a:prstDash val="sysDot"/>
          </a:ln>
        </p:spPr>
      </p:sp>
      <p:sp>
        <p:nvSpPr>
          <p:cNvPr id="12" name="Título"/>
          <p:cNvSpPr/>
          <p:nvPr/>
        </p:nvSpPr>
        <p:spPr>
          <a:xfrm>
            <a:off x="548640" y="960120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0D1B3E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CAN’T: HABILIDAD NEGATIVA</a:t>
            </a:r>
            <a:endParaRPr lang="en-US" sz="3600" dirty="0"/>
          </a:p>
        </p:txBody>
      </p:sp>
      <p:sp>
        <p:nvSpPr>
          <p:cNvPr id="13" name="Tiempo"/>
          <p:cNvSpPr/>
          <p:nvPr/>
        </p:nvSpPr>
        <p:spPr>
          <a:xfrm>
            <a:off x="9875520" y="1014984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D1B3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1:55–2:40</a:t>
            </a:r>
            <a:endParaRPr lang="en-US" sz="1600" dirty="0"/>
          </a:p>
        </p:txBody>
      </p:sp>
      <p:sp>
        <p:nvSpPr>
          <p:cNvPr id="14" name="Block 0 card"/>
          <p:cNvSpPr/>
          <p:nvPr/>
        </p:nvSpPr>
        <p:spPr>
          <a:xfrm>
            <a:off x="548640" y="1874520"/>
            <a:ext cx="544068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9050">
            <a:solidFill>
              <a:srgbClr val="0D1B3E"/>
            </a:solidFill>
            <a:prstDash val="solid"/>
          </a:ln>
        </p:spPr>
      </p:sp>
      <p:sp>
        <p:nvSpPr>
          <p:cNvPr id="15" name="Block 0 label"/>
          <p:cNvSpPr/>
          <p:nvPr/>
        </p:nvSpPr>
        <p:spPr>
          <a:xfrm>
            <a:off x="777240" y="2039112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D1B3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Algo que no sabes hacer</a:t>
            </a:r>
            <a:endParaRPr lang="en-US" sz="2400" dirty="0"/>
          </a:p>
        </p:txBody>
      </p:sp>
      <p:sp>
        <p:nvSpPr>
          <p:cNvPr id="16" name="Block 0 text"/>
          <p:cNvSpPr/>
          <p:nvPr/>
        </p:nvSpPr>
        <p:spPr>
          <a:xfrm>
            <a:off x="777240" y="2624328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i="1" dirty="0">
                <a:solidFill>
                  <a:srgbClr val="0D1B3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 can’t drive.</a:t>
            </a:r>
            <a:endParaRPr lang="en-US" sz="2600" dirty="0"/>
          </a:p>
        </p:txBody>
      </p:sp>
      <p:sp>
        <p:nvSpPr>
          <p:cNvPr id="17" name="Block 0 detail"/>
          <p:cNvSpPr/>
          <p:nvPr/>
        </p:nvSpPr>
        <p:spPr>
          <a:xfrm>
            <a:off x="777240" y="3447288"/>
            <a:ext cx="4983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0D1B3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No sé conducir.</a:t>
            </a:r>
            <a:endParaRPr lang="en-US" sz="2400" dirty="0"/>
          </a:p>
        </p:txBody>
      </p:sp>
      <p:sp>
        <p:nvSpPr>
          <p:cNvPr id="18" name="Block 1 card"/>
          <p:cNvSpPr/>
          <p:nvPr/>
        </p:nvSpPr>
        <p:spPr>
          <a:xfrm>
            <a:off x="6190488" y="1874520"/>
            <a:ext cx="5440680" cy="2331720"/>
          </a:xfrm>
          <a:prstGeom prst="roundRect">
            <a:avLst>
              <a:gd name="adj" fmla="val 4706"/>
            </a:avLst>
          </a:prstGeom>
          <a:solidFill>
            <a:srgbClr val="FFD23F"/>
          </a:solidFill>
          <a:ln w="19050">
            <a:solidFill>
              <a:srgbClr val="0D1B3E"/>
            </a:solidFill>
            <a:prstDash val="solid"/>
          </a:ln>
        </p:spPr>
      </p:sp>
      <p:sp>
        <p:nvSpPr>
          <p:cNvPr id="19" name="Block 1 label"/>
          <p:cNvSpPr/>
          <p:nvPr/>
        </p:nvSpPr>
        <p:spPr>
          <a:xfrm>
            <a:off x="6419088" y="2039112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D1B3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La forma completa</a:t>
            </a:r>
            <a:endParaRPr lang="en-US" sz="2400" dirty="0"/>
          </a:p>
        </p:txBody>
      </p:sp>
      <p:sp>
        <p:nvSpPr>
          <p:cNvPr id="20" name="Block 1 text"/>
          <p:cNvSpPr/>
          <p:nvPr/>
        </p:nvSpPr>
        <p:spPr>
          <a:xfrm>
            <a:off x="6419088" y="2624328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i="1" dirty="0">
                <a:solidFill>
                  <a:srgbClr val="0D1B3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 cannot drive.</a:t>
            </a:r>
            <a:endParaRPr lang="en-US" sz="2600" dirty="0"/>
          </a:p>
        </p:txBody>
      </p:sp>
      <p:sp>
        <p:nvSpPr>
          <p:cNvPr id="21" name="Block 1 detail"/>
          <p:cNvSpPr/>
          <p:nvPr/>
        </p:nvSpPr>
        <p:spPr>
          <a:xfrm>
            <a:off x="6419088" y="3447288"/>
            <a:ext cx="4983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0D1B3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Can’t es la contracción de cannot.</a:t>
            </a:r>
            <a:endParaRPr lang="en-US" sz="2400" dirty="0"/>
          </a:p>
        </p:txBody>
      </p:sp>
      <p:sp>
        <p:nvSpPr>
          <p:cNvPr id="22" name="Block 2 card"/>
          <p:cNvSpPr/>
          <p:nvPr/>
        </p:nvSpPr>
        <p:spPr>
          <a:xfrm>
            <a:off x="548640" y="4434840"/>
            <a:ext cx="11091672" cy="1188720"/>
          </a:xfrm>
          <a:prstGeom prst="roundRect">
            <a:avLst>
              <a:gd name="adj" fmla="val 9231"/>
            </a:avLst>
          </a:prstGeom>
          <a:solidFill>
            <a:srgbClr val="FFD23F"/>
          </a:solidFill>
          <a:ln w="19050">
            <a:solidFill>
              <a:srgbClr val="0D1B3E"/>
            </a:solidFill>
            <a:prstDash val="solid"/>
          </a:ln>
        </p:spPr>
      </p:sp>
      <p:sp>
        <p:nvSpPr>
          <p:cNvPr id="23" name="Block 2 label"/>
          <p:cNvSpPr/>
          <p:nvPr/>
        </p:nvSpPr>
        <p:spPr>
          <a:xfrm>
            <a:off x="749808" y="452628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BE9100"/>
                </a:solidFill>
                <a:latin typeface="Nothing You Could Do" pitchFamily="34" charset="0"/>
                <a:ea typeface="Nothing You Could Do" pitchFamily="34" charset="-122"/>
                <a:cs typeface="Nothing You Could Do" pitchFamily="34" charset="-120"/>
              </a:rPr>
              <a:t>Tip Mercedes</a:t>
            </a:r>
            <a:endParaRPr lang="en-US" sz="2400" dirty="0"/>
          </a:p>
        </p:txBody>
      </p:sp>
      <p:sp>
        <p:nvSpPr>
          <p:cNvPr id="24" name="Block 2 text"/>
          <p:cNvSpPr/>
          <p:nvPr/>
        </p:nvSpPr>
        <p:spPr>
          <a:xfrm>
            <a:off x="3246120" y="4544568"/>
            <a:ext cx="36576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i="1" dirty="0">
                <a:solidFill>
                  <a:srgbClr val="0D1B3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Can’t</a:t>
            </a:r>
            <a:endParaRPr lang="en-US" sz="2600" dirty="0"/>
          </a:p>
        </p:txBody>
      </p:sp>
      <p:sp>
        <p:nvSpPr>
          <p:cNvPr id="25" name="Block 2 detail"/>
          <p:cNvSpPr/>
          <p:nvPr/>
        </p:nvSpPr>
        <p:spPr>
          <a:xfrm>
            <a:off x="7132320" y="4526280"/>
            <a:ext cx="42793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0D1B3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Modelo de inglés estadounidense. Escucha la consonante final.</a:t>
            </a:r>
            <a:endParaRPr lang="en-US" sz="2400" dirty="0"/>
          </a:p>
        </p:txBody>
      </p:sp>
    </p:spTree>
  </p:cSld>
  <p:clrMapOvr>
    <a:masterClrMapping/>
  </p:clrMapOvr>
  <p:transition spd="med" advClick="0" advTm="45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dur="indefinite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2000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0"/>
                            </p:stCondLst>
                            <p:childTnLst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0"/>
                            </p:stCondLst>
                            <p:childTnLst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0"/>
                            </p:stCondLst>
                            <p:childTnLst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2000"/>
                            </p:stCondLst>
                            <p:childTnLst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2000"/>
                            </p:stCondLst>
                            <p:childTnLst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2000"/>
                            </p:stCondLst>
                            <p:childTnLst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2000"/>
                            </p:stCondLst>
                            <p:childTnLst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B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18872"/>
            <a:ext cx="548640" cy="54864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4" name="Logo MM"/>
          <p:cNvSpPr/>
          <p:nvPr/>
        </p:nvSpPr>
        <p:spPr>
          <a:xfrm>
            <a:off x="457200" y="118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D1B3E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MM</a:t>
            </a:r>
            <a:endParaRPr lang="en-US" sz="2000" dirty="0"/>
          </a:p>
        </p:txBody>
      </p:sp>
      <p:sp>
        <p:nvSpPr>
          <p:cNvPr id="5" name="Lema"/>
          <p:cNvSpPr/>
          <p:nvPr/>
        </p:nvSpPr>
        <p:spPr>
          <a:xfrm>
            <a:off x="1188720" y="11887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Tiny Tips, Big Progress</a:t>
            </a:r>
            <a:endParaRPr lang="en-US" sz="1600" dirty="0"/>
          </a:p>
        </p:txBody>
      </p:sp>
      <p:sp>
        <p:nvSpPr>
          <p:cNvPr id="6" name="Pastilla nivel"/>
          <p:cNvSpPr/>
          <p:nvPr/>
        </p:nvSpPr>
        <p:spPr>
          <a:xfrm>
            <a:off x="8915400" y="182880"/>
            <a:ext cx="2743200" cy="411480"/>
          </a:xfrm>
          <a:prstGeom prst="roundRect">
            <a:avLst>
              <a:gd name="adj" fmla="val 26667"/>
            </a:avLst>
          </a:prstGeom>
          <a:solidFill>
            <a:srgbClr val="FFD23F"/>
          </a:solidFill>
          <a:ln w="19050">
            <a:solidFill>
              <a:srgbClr val="0D1B3E"/>
            </a:solidFill>
            <a:prstDash val="solid"/>
          </a:ln>
        </p:spPr>
      </p:sp>
      <p:sp>
        <p:nvSpPr>
          <p:cNvPr id="7" name="Nivel"/>
          <p:cNvSpPr/>
          <p:nvPr/>
        </p:nvSpPr>
        <p:spPr>
          <a:xfrm>
            <a:off x="8915400" y="1828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D1B3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Beginner English Tips</a:t>
            </a:r>
            <a:endParaRPr lang="en-US" sz="1400" dirty="0"/>
          </a:p>
        </p:txBody>
      </p:sp>
      <p:sp>
        <p:nvSpPr>
          <p:cNvPr id="8" name="Pie"/>
          <p:cNvSpPr/>
          <p:nvPr/>
        </p:nvSpPr>
        <p:spPr>
          <a:xfrm>
            <a:off x="548640" y="6483096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D1B3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MMercedesEnglish | Beginner | Unidad y lección sin asignar | Can, can’t y could</a:t>
            </a:r>
            <a:endParaRPr lang="en-US" sz="1000" dirty="0"/>
          </a:p>
        </p:txBody>
      </p:sp>
      <p:sp>
        <p:nvSpPr>
          <p:cNvPr id="9" name="Número"/>
          <p:cNvSpPr/>
          <p:nvPr/>
        </p:nvSpPr>
        <p:spPr>
          <a:xfrm>
            <a:off x="11018520" y="6483096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D1B3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5</a:t>
            </a:r>
            <a:endParaRPr lang="en-US" sz="1100" dirty="0"/>
          </a:p>
        </p:txBody>
      </p:sp>
      <p:sp>
        <p:nvSpPr>
          <p:cNvPr id="10" name="MY NOTES"/>
          <p:cNvSpPr/>
          <p:nvPr/>
        </p:nvSpPr>
        <p:spPr>
          <a:xfrm>
            <a:off x="548640" y="590702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D1B3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MY NOTES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783080" y="6126480"/>
            <a:ext cx="9857232" cy="0"/>
          </a:xfrm>
          <a:prstGeom prst="line">
            <a:avLst/>
          </a:prstGeom>
          <a:noFill/>
          <a:ln w="12700">
            <a:solidFill>
              <a:srgbClr val="0D1B3E"/>
            </a:solidFill>
            <a:prstDash val="sysDot"/>
          </a:ln>
        </p:spPr>
      </p:sp>
      <p:sp>
        <p:nvSpPr>
          <p:cNvPr id="12" name="Título"/>
          <p:cNvSpPr/>
          <p:nvPr/>
        </p:nvSpPr>
        <p:spPr>
          <a:xfrm>
            <a:off x="548640" y="960120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0D1B3E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PREGUNTA CON CAN</a:t>
            </a:r>
            <a:endParaRPr lang="en-US" sz="3600" dirty="0"/>
          </a:p>
        </p:txBody>
      </p:sp>
      <p:sp>
        <p:nvSpPr>
          <p:cNvPr id="13" name="Tiempo"/>
          <p:cNvSpPr/>
          <p:nvPr/>
        </p:nvSpPr>
        <p:spPr>
          <a:xfrm>
            <a:off x="9875520" y="1014984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D1B3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2:40–3:25</a:t>
            </a:r>
            <a:endParaRPr lang="en-US" sz="1600" dirty="0"/>
          </a:p>
        </p:txBody>
      </p:sp>
      <p:sp>
        <p:nvSpPr>
          <p:cNvPr id="14" name="Block 0 card"/>
          <p:cNvSpPr/>
          <p:nvPr/>
        </p:nvSpPr>
        <p:spPr>
          <a:xfrm>
            <a:off x="548640" y="1874520"/>
            <a:ext cx="5440680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9050">
            <a:solidFill>
              <a:srgbClr val="0D1B3E"/>
            </a:solidFill>
            <a:prstDash val="solid"/>
          </a:ln>
        </p:spPr>
      </p:sp>
      <p:sp>
        <p:nvSpPr>
          <p:cNvPr id="15" name="Block 0 label"/>
          <p:cNvSpPr/>
          <p:nvPr/>
        </p:nvSpPr>
        <p:spPr>
          <a:xfrm>
            <a:off x="777240" y="2039112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D1B3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La pregunta</a:t>
            </a:r>
            <a:endParaRPr lang="en-US" sz="2400" dirty="0"/>
          </a:p>
        </p:txBody>
      </p:sp>
      <p:sp>
        <p:nvSpPr>
          <p:cNvPr id="16" name="Block 0 text"/>
          <p:cNvSpPr/>
          <p:nvPr/>
        </p:nvSpPr>
        <p:spPr>
          <a:xfrm>
            <a:off x="777240" y="2624328"/>
            <a:ext cx="4983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i="1" dirty="0">
                <a:solidFill>
                  <a:srgbClr val="0D1B3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Can you swim?</a:t>
            </a:r>
            <a:endParaRPr lang="en-US" sz="2600" dirty="0"/>
          </a:p>
        </p:txBody>
      </p:sp>
      <p:sp>
        <p:nvSpPr>
          <p:cNvPr id="17" name="Block 0 detail"/>
          <p:cNvSpPr/>
          <p:nvPr/>
        </p:nvSpPr>
        <p:spPr>
          <a:xfrm>
            <a:off x="777240" y="3977640"/>
            <a:ext cx="4983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0D1B3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¿Sabes nadar?</a:t>
            </a:r>
            <a:endParaRPr lang="en-US" sz="2400" dirty="0"/>
          </a:p>
        </p:txBody>
      </p:sp>
      <p:sp>
        <p:nvSpPr>
          <p:cNvPr id="18" name="Block 1 card"/>
          <p:cNvSpPr/>
          <p:nvPr/>
        </p:nvSpPr>
        <p:spPr>
          <a:xfrm>
            <a:off x="6190488" y="1874520"/>
            <a:ext cx="5440680" cy="3520440"/>
          </a:xfrm>
          <a:prstGeom prst="roundRect">
            <a:avLst>
              <a:gd name="adj" fmla="val 3117"/>
            </a:avLst>
          </a:prstGeom>
          <a:solidFill>
            <a:srgbClr val="FFD23F"/>
          </a:solidFill>
          <a:ln w="19050">
            <a:solidFill>
              <a:srgbClr val="0D1B3E"/>
            </a:solidFill>
            <a:prstDash val="solid"/>
          </a:ln>
        </p:spPr>
      </p:sp>
      <p:sp>
        <p:nvSpPr>
          <p:cNvPr id="19" name="Block 1 label"/>
          <p:cNvSpPr/>
          <p:nvPr/>
        </p:nvSpPr>
        <p:spPr>
          <a:xfrm>
            <a:off x="6419088" y="2039112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D1B3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Una respuesta corta</a:t>
            </a:r>
            <a:endParaRPr lang="en-US" sz="2400" dirty="0"/>
          </a:p>
        </p:txBody>
      </p:sp>
      <p:sp>
        <p:nvSpPr>
          <p:cNvPr id="20" name="Block 1 text"/>
          <p:cNvSpPr/>
          <p:nvPr/>
        </p:nvSpPr>
        <p:spPr>
          <a:xfrm>
            <a:off x="6419088" y="2624328"/>
            <a:ext cx="4983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i="1" dirty="0">
                <a:solidFill>
                  <a:srgbClr val="0D1B3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Yes, I can. / No, I can’t.</a:t>
            </a:r>
            <a:endParaRPr lang="en-US" sz="2600" dirty="0"/>
          </a:p>
        </p:txBody>
      </p:sp>
      <p:sp>
        <p:nvSpPr>
          <p:cNvPr id="21" name="Block 1 detail"/>
          <p:cNvSpPr/>
          <p:nvPr/>
        </p:nvSpPr>
        <p:spPr>
          <a:xfrm>
            <a:off x="6419088" y="3977640"/>
            <a:ext cx="4983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0D1B3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Responde según lo que sea verdad para ti.</a:t>
            </a:r>
            <a:endParaRPr lang="en-US" sz="2400" dirty="0"/>
          </a:p>
        </p:txBody>
      </p:sp>
    </p:spTree>
  </p:cSld>
  <p:clrMapOvr>
    <a:masterClrMapping/>
  </p:clrMapOvr>
  <p:transition spd="med" advClick="0" advTm="45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dur="indefinite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2400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4000"/>
                            </p:stCondLst>
                            <p:childTnLst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4000"/>
                            </p:stCondLst>
                            <p:childTnLst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4000"/>
                            </p:stCondLst>
                            <p:childTnLst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8" grpId="0"/>
      <p:bldP spid="19" grpId="0"/>
      <p:bldP spid="20" grpId="0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B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18872"/>
            <a:ext cx="548640" cy="54864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4" name="Logo MM"/>
          <p:cNvSpPr/>
          <p:nvPr/>
        </p:nvSpPr>
        <p:spPr>
          <a:xfrm>
            <a:off x="457200" y="118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D1B3E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MM</a:t>
            </a:r>
            <a:endParaRPr lang="en-US" sz="2000" dirty="0"/>
          </a:p>
        </p:txBody>
      </p:sp>
      <p:sp>
        <p:nvSpPr>
          <p:cNvPr id="5" name="Lema"/>
          <p:cNvSpPr/>
          <p:nvPr/>
        </p:nvSpPr>
        <p:spPr>
          <a:xfrm>
            <a:off x="1188720" y="11887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Tiny Tips, Big Progress</a:t>
            </a:r>
            <a:endParaRPr lang="en-US" sz="1600" dirty="0"/>
          </a:p>
        </p:txBody>
      </p:sp>
      <p:sp>
        <p:nvSpPr>
          <p:cNvPr id="6" name="Pastilla nivel"/>
          <p:cNvSpPr/>
          <p:nvPr/>
        </p:nvSpPr>
        <p:spPr>
          <a:xfrm>
            <a:off x="8915400" y="182880"/>
            <a:ext cx="2743200" cy="411480"/>
          </a:xfrm>
          <a:prstGeom prst="roundRect">
            <a:avLst>
              <a:gd name="adj" fmla="val 26667"/>
            </a:avLst>
          </a:prstGeom>
          <a:solidFill>
            <a:srgbClr val="FFD23F"/>
          </a:solidFill>
          <a:ln w="19050">
            <a:solidFill>
              <a:srgbClr val="0D1B3E"/>
            </a:solidFill>
            <a:prstDash val="solid"/>
          </a:ln>
        </p:spPr>
      </p:sp>
      <p:sp>
        <p:nvSpPr>
          <p:cNvPr id="7" name="Nivel"/>
          <p:cNvSpPr/>
          <p:nvPr/>
        </p:nvSpPr>
        <p:spPr>
          <a:xfrm>
            <a:off x="8915400" y="1828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D1B3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Beginner English Tips</a:t>
            </a:r>
            <a:endParaRPr lang="en-US" sz="1400" dirty="0"/>
          </a:p>
        </p:txBody>
      </p:sp>
      <p:sp>
        <p:nvSpPr>
          <p:cNvPr id="8" name="Pie"/>
          <p:cNvSpPr/>
          <p:nvPr/>
        </p:nvSpPr>
        <p:spPr>
          <a:xfrm>
            <a:off x="548640" y="6483096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D1B3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MMercedesEnglish | Beginner | Unidad y lección sin asignar | Can, can’t y could</a:t>
            </a:r>
            <a:endParaRPr lang="en-US" sz="1000" dirty="0"/>
          </a:p>
        </p:txBody>
      </p:sp>
      <p:sp>
        <p:nvSpPr>
          <p:cNvPr id="9" name="Número"/>
          <p:cNvSpPr/>
          <p:nvPr/>
        </p:nvSpPr>
        <p:spPr>
          <a:xfrm>
            <a:off x="11018520" y="6483096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D1B3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6</a:t>
            </a:r>
            <a:endParaRPr lang="en-US" sz="1100" dirty="0"/>
          </a:p>
        </p:txBody>
      </p:sp>
      <p:sp>
        <p:nvSpPr>
          <p:cNvPr id="10" name="MY NOTES"/>
          <p:cNvSpPr/>
          <p:nvPr/>
        </p:nvSpPr>
        <p:spPr>
          <a:xfrm>
            <a:off x="548640" y="590702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D1B3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MY NOTES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783080" y="6126480"/>
            <a:ext cx="9857232" cy="0"/>
          </a:xfrm>
          <a:prstGeom prst="line">
            <a:avLst/>
          </a:prstGeom>
          <a:noFill/>
          <a:ln w="12700">
            <a:solidFill>
              <a:srgbClr val="0D1B3E"/>
            </a:solidFill>
            <a:prstDash val="sysDot"/>
          </a:ln>
        </p:spPr>
      </p:sp>
      <p:sp>
        <p:nvSpPr>
          <p:cNvPr id="12" name="Título"/>
          <p:cNvSpPr/>
          <p:nvPr/>
        </p:nvSpPr>
        <p:spPr>
          <a:xfrm>
            <a:off x="548640" y="960120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0D1B3E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TU TURNO: CAN O CAN’T</a:t>
            </a:r>
            <a:endParaRPr lang="en-US" sz="3600" dirty="0"/>
          </a:p>
        </p:txBody>
      </p:sp>
      <p:sp>
        <p:nvSpPr>
          <p:cNvPr id="13" name="Tiempo"/>
          <p:cNvSpPr/>
          <p:nvPr/>
        </p:nvSpPr>
        <p:spPr>
          <a:xfrm>
            <a:off x="9875520" y="1014984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D1B3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3:25–4:10</a:t>
            </a:r>
            <a:endParaRPr lang="en-US" sz="1600" dirty="0"/>
          </a:p>
        </p:txBody>
      </p:sp>
      <p:sp>
        <p:nvSpPr>
          <p:cNvPr id="14" name="Block 0 card"/>
          <p:cNvSpPr/>
          <p:nvPr/>
        </p:nvSpPr>
        <p:spPr>
          <a:xfrm>
            <a:off x="548640" y="1874520"/>
            <a:ext cx="544068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9050">
            <a:solidFill>
              <a:srgbClr val="0D1B3E"/>
            </a:solidFill>
            <a:prstDash val="solid"/>
          </a:ln>
        </p:spPr>
      </p:sp>
      <p:sp>
        <p:nvSpPr>
          <p:cNvPr id="15" name="Block 0 label"/>
          <p:cNvSpPr/>
          <p:nvPr/>
        </p:nvSpPr>
        <p:spPr>
          <a:xfrm>
            <a:off x="777240" y="2039112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D1B3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Elige según la situación</a:t>
            </a:r>
            <a:endParaRPr lang="en-US" sz="2400" dirty="0"/>
          </a:p>
        </p:txBody>
      </p:sp>
      <p:sp>
        <p:nvSpPr>
          <p:cNvPr id="16" name="Block 0 text"/>
          <p:cNvSpPr/>
          <p:nvPr/>
        </p:nvSpPr>
        <p:spPr>
          <a:xfrm>
            <a:off x="777240" y="2624328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i="1" dirty="0">
                <a:solidFill>
                  <a:srgbClr val="0D1B3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 ___ swim.</a:t>
            </a:r>
            <a:endParaRPr lang="en-US" sz="2600" dirty="0"/>
          </a:p>
        </p:txBody>
      </p:sp>
      <p:sp>
        <p:nvSpPr>
          <p:cNvPr id="17" name="Block 0 detail"/>
          <p:cNvSpPr/>
          <p:nvPr/>
        </p:nvSpPr>
        <p:spPr>
          <a:xfrm>
            <a:off x="777240" y="3447288"/>
            <a:ext cx="4983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0D1B3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Sabes nadar.</a:t>
            </a:r>
            <a:endParaRPr lang="en-US" sz="2400" dirty="0"/>
          </a:p>
        </p:txBody>
      </p:sp>
      <p:sp>
        <p:nvSpPr>
          <p:cNvPr id="18" name="Block 1 card"/>
          <p:cNvSpPr/>
          <p:nvPr/>
        </p:nvSpPr>
        <p:spPr>
          <a:xfrm>
            <a:off x="6190488" y="1874520"/>
            <a:ext cx="5440680" cy="2331720"/>
          </a:xfrm>
          <a:prstGeom prst="roundRect">
            <a:avLst>
              <a:gd name="adj" fmla="val 4706"/>
            </a:avLst>
          </a:prstGeom>
          <a:solidFill>
            <a:srgbClr val="FFD23F"/>
          </a:solidFill>
          <a:ln w="19050">
            <a:solidFill>
              <a:srgbClr val="0D1B3E"/>
            </a:solidFill>
            <a:prstDash val="solid"/>
          </a:ln>
        </p:spPr>
      </p:sp>
      <p:sp>
        <p:nvSpPr>
          <p:cNvPr id="19" name="Block 1 label"/>
          <p:cNvSpPr/>
          <p:nvPr/>
        </p:nvSpPr>
        <p:spPr>
          <a:xfrm>
            <a:off x="6419088" y="2039112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D1B3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Respuesta</a:t>
            </a:r>
            <a:endParaRPr lang="en-US" sz="2400" dirty="0"/>
          </a:p>
        </p:txBody>
      </p:sp>
      <p:sp>
        <p:nvSpPr>
          <p:cNvPr id="20" name="Block 1 text"/>
          <p:cNvSpPr/>
          <p:nvPr/>
        </p:nvSpPr>
        <p:spPr>
          <a:xfrm>
            <a:off x="6419088" y="2624328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i="1" dirty="0">
                <a:solidFill>
                  <a:srgbClr val="0D1B3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 can swim.</a:t>
            </a:r>
            <a:endParaRPr lang="en-US" sz="2600" dirty="0"/>
          </a:p>
        </p:txBody>
      </p:sp>
      <p:sp>
        <p:nvSpPr>
          <p:cNvPr id="21" name="Block 1 detail"/>
          <p:cNvSpPr/>
          <p:nvPr/>
        </p:nvSpPr>
        <p:spPr>
          <a:xfrm>
            <a:off x="6419088" y="3447288"/>
            <a:ext cx="4983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0D1B3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Can expresa la habilidad que tienes.</a:t>
            </a:r>
            <a:endParaRPr lang="en-US" sz="2400" dirty="0"/>
          </a:p>
        </p:txBody>
      </p:sp>
      <p:sp>
        <p:nvSpPr>
          <p:cNvPr id="22" name="Block 2 card"/>
          <p:cNvSpPr/>
          <p:nvPr/>
        </p:nvSpPr>
        <p:spPr>
          <a:xfrm>
            <a:off x="548640" y="4434840"/>
            <a:ext cx="11091672" cy="1188720"/>
          </a:xfrm>
          <a:prstGeom prst="roundRect">
            <a:avLst>
              <a:gd name="adj" fmla="val 9231"/>
            </a:avLst>
          </a:prstGeom>
          <a:solidFill>
            <a:srgbClr val="FFD23F"/>
          </a:solidFill>
          <a:ln w="19050">
            <a:solidFill>
              <a:srgbClr val="0D1B3E"/>
            </a:solidFill>
            <a:prstDash val="solid"/>
          </a:ln>
        </p:spPr>
      </p:sp>
      <p:sp>
        <p:nvSpPr>
          <p:cNvPr id="23" name="Block 2 label"/>
          <p:cNvSpPr/>
          <p:nvPr/>
        </p:nvSpPr>
        <p:spPr>
          <a:xfrm>
            <a:off x="749808" y="452628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D1B3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Ahora cambia la idea</a:t>
            </a:r>
            <a:endParaRPr lang="en-US" sz="2400" dirty="0"/>
          </a:p>
        </p:txBody>
      </p:sp>
      <p:sp>
        <p:nvSpPr>
          <p:cNvPr id="24" name="Block 2 text"/>
          <p:cNvSpPr/>
          <p:nvPr/>
        </p:nvSpPr>
        <p:spPr>
          <a:xfrm>
            <a:off x="3246120" y="4544568"/>
            <a:ext cx="36576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i="1" dirty="0">
                <a:solidFill>
                  <a:srgbClr val="0D1B3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 can’t swim.</a:t>
            </a:r>
            <a:endParaRPr lang="en-US" sz="2600" dirty="0"/>
          </a:p>
        </p:txBody>
      </p:sp>
      <p:sp>
        <p:nvSpPr>
          <p:cNvPr id="25" name="Block 2 detail"/>
          <p:cNvSpPr/>
          <p:nvPr/>
        </p:nvSpPr>
        <p:spPr>
          <a:xfrm>
            <a:off x="7132320" y="4526280"/>
            <a:ext cx="42793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0D1B3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No sabes nadar.</a:t>
            </a:r>
            <a:endParaRPr lang="en-US" sz="2400" dirty="0"/>
          </a:p>
        </p:txBody>
      </p:sp>
    </p:spTree>
  </p:cSld>
  <p:clrMapOvr>
    <a:masterClrMapping/>
  </p:clrMapOvr>
  <p:transition spd="med" advClick="0" advTm="45000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dur="indefinite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900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9000"/>
                            </p:stCondLst>
                            <p:childTnLst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9000"/>
                            </p:stCondLst>
                            <p:childTnLst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9000"/>
                            </p:stCondLst>
                            <p:childTnLst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4000"/>
                            </p:stCondLst>
                            <p:childTnLst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4000"/>
                            </p:stCondLst>
                            <p:childTnLst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4000"/>
                            </p:stCondLst>
                            <p:childTnLst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4000"/>
                            </p:stCondLst>
                            <p:childTnLst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B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18872"/>
            <a:ext cx="548640" cy="54864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4" name="Logo MM"/>
          <p:cNvSpPr/>
          <p:nvPr/>
        </p:nvSpPr>
        <p:spPr>
          <a:xfrm>
            <a:off x="457200" y="118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D1B3E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MM</a:t>
            </a:r>
            <a:endParaRPr lang="en-US" sz="2000" dirty="0"/>
          </a:p>
        </p:txBody>
      </p:sp>
      <p:sp>
        <p:nvSpPr>
          <p:cNvPr id="5" name="Lema"/>
          <p:cNvSpPr/>
          <p:nvPr/>
        </p:nvSpPr>
        <p:spPr>
          <a:xfrm>
            <a:off x="1188720" y="11887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Tiny Tips, Big Progress</a:t>
            </a:r>
            <a:endParaRPr lang="en-US" sz="1600" dirty="0"/>
          </a:p>
        </p:txBody>
      </p:sp>
      <p:sp>
        <p:nvSpPr>
          <p:cNvPr id="6" name="Pastilla nivel"/>
          <p:cNvSpPr/>
          <p:nvPr/>
        </p:nvSpPr>
        <p:spPr>
          <a:xfrm>
            <a:off x="8915400" y="182880"/>
            <a:ext cx="2743200" cy="411480"/>
          </a:xfrm>
          <a:prstGeom prst="roundRect">
            <a:avLst>
              <a:gd name="adj" fmla="val 26667"/>
            </a:avLst>
          </a:prstGeom>
          <a:solidFill>
            <a:srgbClr val="FFD23F"/>
          </a:solidFill>
          <a:ln w="19050">
            <a:solidFill>
              <a:srgbClr val="0D1B3E"/>
            </a:solidFill>
            <a:prstDash val="solid"/>
          </a:ln>
        </p:spPr>
      </p:sp>
      <p:sp>
        <p:nvSpPr>
          <p:cNvPr id="7" name="Nivel"/>
          <p:cNvSpPr/>
          <p:nvPr/>
        </p:nvSpPr>
        <p:spPr>
          <a:xfrm>
            <a:off x="8915400" y="1828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D1B3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Beginner English Tips</a:t>
            </a:r>
            <a:endParaRPr lang="en-US" sz="1400" dirty="0"/>
          </a:p>
        </p:txBody>
      </p:sp>
      <p:sp>
        <p:nvSpPr>
          <p:cNvPr id="8" name="Pie"/>
          <p:cNvSpPr/>
          <p:nvPr/>
        </p:nvSpPr>
        <p:spPr>
          <a:xfrm>
            <a:off x="548640" y="6483096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D1B3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MMercedesEnglish | Beginner | Unidad y lección sin asignar | Can, can’t y could</a:t>
            </a:r>
            <a:endParaRPr lang="en-US" sz="1000" dirty="0"/>
          </a:p>
        </p:txBody>
      </p:sp>
      <p:sp>
        <p:nvSpPr>
          <p:cNvPr id="9" name="Número"/>
          <p:cNvSpPr/>
          <p:nvPr/>
        </p:nvSpPr>
        <p:spPr>
          <a:xfrm>
            <a:off x="11018520" y="6483096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D1B3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7</a:t>
            </a:r>
            <a:endParaRPr lang="en-US" sz="1100" dirty="0"/>
          </a:p>
        </p:txBody>
      </p:sp>
      <p:sp>
        <p:nvSpPr>
          <p:cNvPr id="10" name="MY NOTES"/>
          <p:cNvSpPr/>
          <p:nvPr/>
        </p:nvSpPr>
        <p:spPr>
          <a:xfrm>
            <a:off x="548640" y="590702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D1B3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MY NOTES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783080" y="6126480"/>
            <a:ext cx="9857232" cy="0"/>
          </a:xfrm>
          <a:prstGeom prst="line">
            <a:avLst/>
          </a:prstGeom>
          <a:noFill/>
          <a:ln w="12700">
            <a:solidFill>
              <a:srgbClr val="0D1B3E"/>
            </a:solidFill>
            <a:prstDash val="sysDot"/>
          </a:ln>
        </p:spPr>
      </p:sp>
      <p:sp>
        <p:nvSpPr>
          <p:cNvPr id="12" name="Título"/>
          <p:cNvSpPr/>
          <p:nvPr/>
        </p:nvSpPr>
        <p:spPr>
          <a:xfrm>
            <a:off x="548640" y="960120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0D1B3E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COULD: HABILIDAD EN EL PASADO</a:t>
            </a:r>
            <a:endParaRPr lang="en-US" sz="3600" dirty="0"/>
          </a:p>
        </p:txBody>
      </p:sp>
      <p:sp>
        <p:nvSpPr>
          <p:cNvPr id="13" name="Tiempo"/>
          <p:cNvSpPr/>
          <p:nvPr/>
        </p:nvSpPr>
        <p:spPr>
          <a:xfrm>
            <a:off x="9875520" y="1014984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D1B3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4:10–4:55</a:t>
            </a:r>
            <a:endParaRPr lang="en-US" sz="1600" dirty="0"/>
          </a:p>
        </p:txBody>
      </p:sp>
      <p:sp>
        <p:nvSpPr>
          <p:cNvPr id="14" name="Block 0 card"/>
          <p:cNvSpPr/>
          <p:nvPr/>
        </p:nvSpPr>
        <p:spPr>
          <a:xfrm>
            <a:off x="548640" y="1874520"/>
            <a:ext cx="544068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9050">
            <a:solidFill>
              <a:srgbClr val="0D1B3E"/>
            </a:solidFill>
            <a:prstDash val="solid"/>
          </a:ln>
        </p:spPr>
      </p:sp>
      <p:sp>
        <p:nvSpPr>
          <p:cNvPr id="15" name="Block 0 label"/>
          <p:cNvSpPr/>
          <p:nvPr/>
        </p:nvSpPr>
        <p:spPr>
          <a:xfrm>
            <a:off x="777240" y="2039112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D1B3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Una habilidad de antes</a:t>
            </a:r>
            <a:endParaRPr lang="en-US" sz="2400" dirty="0"/>
          </a:p>
        </p:txBody>
      </p:sp>
      <p:sp>
        <p:nvSpPr>
          <p:cNvPr id="16" name="Block 0 text"/>
          <p:cNvSpPr/>
          <p:nvPr/>
        </p:nvSpPr>
        <p:spPr>
          <a:xfrm>
            <a:off x="777240" y="2624328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i="1" dirty="0">
                <a:solidFill>
                  <a:srgbClr val="0D1B3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When I was ten, I could swim.</a:t>
            </a:r>
            <a:endParaRPr lang="en-US" sz="2600" dirty="0"/>
          </a:p>
        </p:txBody>
      </p:sp>
      <p:sp>
        <p:nvSpPr>
          <p:cNvPr id="17" name="Block 0 detail"/>
          <p:cNvSpPr/>
          <p:nvPr/>
        </p:nvSpPr>
        <p:spPr>
          <a:xfrm>
            <a:off x="777240" y="3447288"/>
            <a:ext cx="4983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0D1B3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Cuando tenía diez años, sabía nadar.</a:t>
            </a:r>
            <a:endParaRPr lang="en-US" sz="2400" dirty="0"/>
          </a:p>
        </p:txBody>
      </p:sp>
      <p:sp>
        <p:nvSpPr>
          <p:cNvPr id="18" name="Block 1 card"/>
          <p:cNvSpPr/>
          <p:nvPr/>
        </p:nvSpPr>
        <p:spPr>
          <a:xfrm>
            <a:off x="6190488" y="1874520"/>
            <a:ext cx="5440680" cy="2331720"/>
          </a:xfrm>
          <a:prstGeom prst="roundRect">
            <a:avLst>
              <a:gd name="adj" fmla="val 4706"/>
            </a:avLst>
          </a:prstGeom>
          <a:solidFill>
            <a:srgbClr val="FFD23F"/>
          </a:solidFill>
          <a:ln w="19050">
            <a:solidFill>
              <a:srgbClr val="0D1B3E"/>
            </a:solidFill>
            <a:prstDash val="solid"/>
          </a:ln>
        </p:spPr>
      </p:sp>
      <p:sp>
        <p:nvSpPr>
          <p:cNvPr id="19" name="Block 1 label"/>
          <p:cNvSpPr/>
          <p:nvPr/>
        </p:nvSpPr>
        <p:spPr>
          <a:xfrm>
            <a:off x="6419088" y="2039112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D1B3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La idea clave</a:t>
            </a:r>
            <a:endParaRPr lang="en-US" sz="2400" dirty="0"/>
          </a:p>
        </p:txBody>
      </p:sp>
      <p:sp>
        <p:nvSpPr>
          <p:cNvPr id="20" name="Block 1 text"/>
          <p:cNvSpPr/>
          <p:nvPr/>
        </p:nvSpPr>
        <p:spPr>
          <a:xfrm>
            <a:off x="6419088" y="2624328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dirty="0">
                <a:solidFill>
                  <a:srgbClr val="0D1B3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Could + verbo en forma base</a:t>
            </a:r>
            <a:endParaRPr lang="en-US" sz="2600" dirty="0"/>
          </a:p>
        </p:txBody>
      </p:sp>
      <p:sp>
        <p:nvSpPr>
          <p:cNvPr id="21" name="Block 1 detail"/>
          <p:cNvSpPr/>
          <p:nvPr/>
        </p:nvSpPr>
        <p:spPr>
          <a:xfrm>
            <a:off x="6419088" y="3447288"/>
            <a:ext cx="4983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0D1B3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Aquí could expresa una habilidad pasada.</a:t>
            </a:r>
            <a:endParaRPr lang="en-US" sz="2400" dirty="0"/>
          </a:p>
        </p:txBody>
      </p:sp>
      <p:sp>
        <p:nvSpPr>
          <p:cNvPr id="22" name="Block 2 card"/>
          <p:cNvSpPr/>
          <p:nvPr/>
        </p:nvSpPr>
        <p:spPr>
          <a:xfrm>
            <a:off x="548640" y="4434840"/>
            <a:ext cx="11091672" cy="1188720"/>
          </a:xfrm>
          <a:prstGeom prst="roundRect">
            <a:avLst>
              <a:gd name="adj" fmla="val 9231"/>
            </a:avLst>
          </a:prstGeom>
          <a:solidFill>
            <a:srgbClr val="FFD23F"/>
          </a:solidFill>
          <a:ln w="19050">
            <a:solidFill>
              <a:srgbClr val="0D1B3E"/>
            </a:solidFill>
            <a:prstDash val="solid"/>
          </a:ln>
        </p:spPr>
      </p:sp>
      <p:sp>
        <p:nvSpPr>
          <p:cNvPr id="23" name="Block 2 label"/>
          <p:cNvSpPr/>
          <p:nvPr/>
        </p:nvSpPr>
        <p:spPr>
          <a:xfrm>
            <a:off x="749808" y="452628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BE9100"/>
                </a:solidFill>
                <a:latin typeface="Nothing You Could Do" pitchFamily="34" charset="0"/>
                <a:ea typeface="Nothing You Could Do" pitchFamily="34" charset="-122"/>
                <a:cs typeface="Nothing You Could Do" pitchFamily="34" charset="-120"/>
              </a:rPr>
              <a:t>Tip Mercedes</a:t>
            </a:r>
            <a:endParaRPr lang="en-US" sz="2400" dirty="0"/>
          </a:p>
        </p:txBody>
      </p:sp>
      <p:sp>
        <p:nvSpPr>
          <p:cNvPr id="24" name="Block 2 text"/>
          <p:cNvSpPr/>
          <p:nvPr/>
        </p:nvSpPr>
        <p:spPr>
          <a:xfrm>
            <a:off x="3246120" y="4544568"/>
            <a:ext cx="36576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i="1" dirty="0">
                <a:solidFill>
                  <a:srgbClr val="0D1B3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Could</a:t>
            </a:r>
            <a:endParaRPr lang="en-US" sz="2600" dirty="0"/>
          </a:p>
        </p:txBody>
      </p:sp>
      <p:sp>
        <p:nvSpPr>
          <p:cNvPr id="25" name="Block 2 detail"/>
          <p:cNvSpPr/>
          <p:nvPr/>
        </p:nvSpPr>
        <p:spPr>
          <a:xfrm>
            <a:off x="7132320" y="4526280"/>
            <a:ext cx="42793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0D1B3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La l no se pronuncia.</a:t>
            </a:r>
            <a:endParaRPr lang="en-US" sz="2400" dirty="0"/>
          </a:p>
        </p:txBody>
      </p:sp>
    </p:spTree>
  </p:cSld>
  <p:clrMapOvr>
    <a:masterClrMapping/>
  </p:clrMapOvr>
  <p:transition spd="med" advClick="0" advTm="45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dur="indefinite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2200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2000"/>
                            </p:stCondLst>
                            <p:childTnLst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2000"/>
                            </p:stCondLst>
                            <p:childTnLst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2000"/>
                            </p:stCondLst>
                            <p:childTnLst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4000"/>
                            </p:stCondLst>
                            <p:childTnLst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4000"/>
                            </p:stCondLst>
                            <p:childTnLst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4000"/>
                            </p:stCondLst>
                            <p:childTnLst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4000"/>
                            </p:stCondLst>
                            <p:childTnLst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B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18872"/>
            <a:ext cx="548640" cy="54864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4" name="Logo MM"/>
          <p:cNvSpPr/>
          <p:nvPr/>
        </p:nvSpPr>
        <p:spPr>
          <a:xfrm>
            <a:off x="457200" y="118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D1B3E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MM</a:t>
            </a:r>
            <a:endParaRPr lang="en-US" sz="2000" dirty="0"/>
          </a:p>
        </p:txBody>
      </p:sp>
      <p:sp>
        <p:nvSpPr>
          <p:cNvPr id="5" name="Lema"/>
          <p:cNvSpPr/>
          <p:nvPr/>
        </p:nvSpPr>
        <p:spPr>
          <a:xfrm>
            <a:off x="1188720" y="11887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Tiny Tips, Big Progress</a:t>
            </a:r>
            <a:endParaRPr lang="en-US" sz="1600" dirty="0"/>
          </a:p>
        </p:txBody>
      </p:sp>
      <p:sp>
        <p:nvSpPr>
          <p:cNvPr id="6" name="Pastilla nivel"/>
          <p:cNvSpPr/>
          <p:nvPr/>
        </p:nvSpPr>
        <p:spPr>
          <a:xfrm>
            <a:off x="8915400" y="182880"/>
            <a:ext cx="2743200" cy="411480"/>
          </a:xfrm>
          <a:prstGeom prst="roundRect">
            <a:avLst>
              <a:gd name="adj" fmla="val 26667"/>
            </a:avLst>
          </a:prstGeom>
          <a:solidFill>
            <a:srgbClr val="FFD23F"/>
          </a:solidFill>
          <a:ln w="19050">
            <a:solidFill>
              <a:srgbClr val="0D1B3E"/>
            </a:solidFill>
            <a:prstDash val="solid"/>
          </a:ln>
        </p:spPr>
      </p:sp>
      <p:sp>
        <p:nvSpPr>
          <p:cNvPr id="7" name="Nivel"/>
          <p:cNvSpPr/>
          <p:nvPr/>
        </p:nvSpPr>
        <p:spPr>
          <a:xfrm>
            <a:off x="8915400" y="1828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D1B3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Beginner English Tips</a:t>
            </a:r>
            <a:endParaRPr lang="en-US" sz="1400" dirty="0"/>
          </a:p>
        </p:txBody>
      </p:sp>
      <p:sp>
        <p:nvSpPr>
          <p:cNvPr id="8" name="Pie"/>
          <p:cNvSpPr/>
          <p:nvPr/>
        </p:nvSpPr>
        <p:spPr>
          <a:xfrm>
            <a:off x="548640" y="6483096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D1B3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MMercedesEnglish | Beginner | Unidad y lección sin asignar | Can, can’t y could</a:t>
            </a:r>
            <a:endParaRPr lang="en-US" sz="1000" dirty="0"/>
          </a:p>
        </p:txBody>
      </p:sp>
      <p:sp>
        <p:nvSpPr>
          <p:cNvPr id="9" name="Número"/>
          <p:cNvSpPr/>
          <p:nvPr/>
        </p:nvSpPr>
        <p:spPr>
          <a:xfrm>
            <a:off x="11018520" y="6483096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D1B3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8</a:t>
            </a:r>
            <a:endParaRPr lang="en-US" sz="1100" dirty="0"/>
          </a:p>
        </p:txBody>
      </p:sp>
      <p:sp>
        <p:nvSpPr>
          <p:cNvPr id="10" name="MY NOTES"/>
          <p:cNvSpPr/>
          <p:nvPr/>
        </p:nvSpPr>
        <p:spPr>
          <a:xfrm>
            <a:off x="548640" y="590702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D1B3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MY NOTES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783080" y="6126480"/>
            <a:ext cx="9857232" cy="0"/>
          </a:xfrm>
          <a:prstGeom prst="line">
            <a:avLst/>
          </a:prstGeom>
          <a:noFill/>
          <a:ln w="12700">
            <a:solidFill>
              <a:srgbClr val="0D1B3E"/>
            </a:solidFill>
            <a:prstDash val="sysDot"/>
          </a:ln>
        </p:spPr>
      </p:sp>
      <p:sp>
        <p:nvSpPr>
          <p:cNvPr id="12" name="Título"/>
          <p:cNvSpPr/>
          <p:nvPr/>
        </p:nvSpPr>
        <p:spPr>
          <a:xfrm>
            <a:off x="548640" y="960120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0D1B3E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COULD: UNA PETICIÓN AMABLE</a:t>
            </a:r>
            <a:endParaRPr lang="en-US" sz="3600" dirty="0"/>
          </a:p>
        </p:txBody>
      </p:sp>
      <p:sp>
        <p:nvSpPr>
          <p:cNvPr id="13" name="Tiempo"/>
          <p:cNvSpPr/>
          <p:nvPr/>
        </p:nvSpPr>
        <p:spPr>
          <a:xfrm>
            <a:off x="9875520" y="1014984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D1B3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4:55–5:40</a:t>
            </a:r>
            <a:endParaRPr lang="en-US" sz="1600" dirty="0"/>
          </a:p>
        </p:txBody>
      </p:sp>
      <p:sp>
        <p:nvSpPr>
          <p:cNvPr id="14" name="Block 0 card"/>
          <p:cNvSpPr/>
          <p:nvPr/>
        </p:nvSpPr>
        <p:spPr>
          <a:xfrm>
            <a:off x="548640" y="1874520"/>
            <a:ext cx="5440680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9050">
            <a:solidFill>
              <a:srgbClr val="0D1B3E"/>
            </a:solidFill>
            <a:prstDash val="solid"/>
          </a:ln>
        </p:spPr>
      </p:sp>
      <p:sp>
        <p:nvSpPr>
          <p:cNvPr id="15" name="Block 0 label"/>
          <p:cNvSpPr/>
          <p:nvPr/>
        </p:nvSpPr>
        <p:spPr>
          <a:xfrm>
            <a:off x="777240" y="2039112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D1B3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Para pedir ayuda</a:t>
            </a:r>
            <a:endParaRPr lang="en-US" sz="2400" dirty="0"/>
          </a:p>
        </p:txBody>
      </p:sp>
      <p:sp>
        <p:nvSpPr>
          <p:cNvPr id="16" name="Block 0 text"/>
          <p:cNvSpPr/>
          <p:nvPr/>
        </p:nvSpPr>
        <p:spPr>
          <a:xfrm>
            <a:off x="777240" y="2624328"/>
            <a:ext cx="4983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i="1" dirty="0">
                <a:solidFill>
                  <a:srgbClr val="0D1B3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Could you help me, please?</a:t>
            </a:r>
            <a:endParaRPr lang="en-US" sz="2600" dirty="0"/>
          </a:p>
        </p:txBody>
      </p:sp>
      <p:sp>
        <p:nvSpPr>
          <p:cNvPr id="17" name="Block 0 detail"/>
          <p:cNvSpPr/>
          <p:nvPr/>
        </p:nvSpPr>
        <p:spPr>
          <a:xfrm>
            <a:off x="777240" y="3977640"/>
            <a:ext cx="4983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0D1B3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¿Podrías ayudarme, por favor?</a:t>
            </a:r>
            <a:endParaRPr lang="en-US" sz="2400" dirty="0"/>
          </a:p>
        </p:txBody>
      </p:sp>
      <p:sp>
        <p:nvSpPr>
          <p:cNvPr id="18" name="Block 1 card"/>
          <p:cNvSpPr/>
          <p:nvPr/>
        </p:nvSpPr>
        <p:spPr>
          <a:xfrm>
            <a:off x="6190488" y="1874520"/>
            <a:ext cx="5440680" cy="3520440"/>
          </a:xfrm>
          <a:prstGeom prst="roundRect">
            <a:avLst>
              <a:gd name="adj" fmla="val 3117"/>
            </a:avLst>
          </a:prstGeom>
          <a:solidFill>
            <a:srgbClr val="FFD23F"/>
          </a:solidFill>
          <a:ln w="19050">
            <a:solidFill>
              <a:srgbClr val="0D1B3E"/>
            </a:solidFill>
            <a:prstDash val="solid"/>
          </a:ln>
        </p:spPr>
      </p:sp>
      <p:sp>
        <p:nvSpPr>
          <p:cNvPr id="19" name="Block 1 label"/>
          <p:cNvSpPr/>
          <p:nvPr/>
        </p:nvSpPr>
        <p:spPr>
          <a:xfrm>
            <a:off x="6419088" y="2039112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D1B3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El contexto te orienta</a:t>
            </a:r>
            <a:endParaRPr lang="en-US" sz="2400" dirty="0"/>
          </a:p>
        </p:txBody>
      </p:sp>
      <p:sp>
        <p:nvSpPr>
          <p:cNvPr id="20" name="Block 1 text"/>
          <p:cNvSpPr/>
          <p:nvPr/>
        </p:nvSpPr>
        <p:spPr>
          <a:xfrm>
            <a:off x="6419088" y="2624328"/>
            <a:ext cx="4983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dirty="0">
                <a:solidFill>
                  <a:srgbClr val="0D1B3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La ayuda se pide ahora.</a:t>
            </a:r>
            <a:endParaRPr lang="en-US" sz="2600" dirty="0"/>
          </a:p>
        </p:txBody>
      </p:sp>
      <p:sp>
        <p:nvSpPr>
          <p:cNvPr id="21" name="Block 1 detail"/>
          <p:cNvSpPr/>
          <p:nvPr/>
        </p:nvSpPr>
        <p:spPr>
          <a:xfrm>
            <a:off x="6419088" y="3977640"/>
            <a:ext cx="4983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0D1B3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En esta petición, could no habla del pasado.</a:t>
            </a:r>
            <a:endParaRPr lang="en-US" sz="2400" dirty="0"/>
          </a:p>
        </p:txBody>
      </p:sp>
    </p:spTree>
  </p:cSld>
  <p:clrMapOvr>
    <a:masterClrMapping/>
  </p:clrMapOvr>
  <p:transition spd="med" advClick="0" advTm="45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dur="indefinite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2200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2000"/>
                            </p:stCondLst>
                            <p:childTnLst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2000"/>
                            </p:stCondLst>
                            <p:childTnLst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2000"/>
                            </p:stCondLst>
                            <p:childTnLst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8" grpId="0"/>
      <p:bldP spid="19" grpId="0"/>
      <p:bldP spid="20" grpId="0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B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18872"/>
            <a:ext cx="548640" cy="54864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4" name="Logo MM"/>
          <p:cNvSpPr/>
          <p:nvPr/>
        </p:nvSpPr>
        <p:spPr>
          <a:xfrm>
            <a:off x="457200" y="118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D1B3E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MM</a:t>
            </a:r>
            <a:endParaRPr lang="en-US" sz="2000" dirty="0"/>
          </a:p>
        </p:txBody>
      </p:sp>
      <p:sp>
        <p:nvSpPr>
          <p:cNvPr id="5" name="Lema"/>
          <p:cNvSpPr/>
          <p:nvPr/>
        </p:nvSpPr>
        <p:spPr>
          <a:xfrm>
            <a:off x="1188720" y="11887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Tiny Tips, Big Progress</a:t>
            </a:r>
            <a:endParaRPr lang="en-US" sz="1600" dirty="0"/>
          </a:p>
        </p:txBody>
      </p:sp>
      <p:sp>
        <p:nvSpPr>
          <p:cNvPr id="6" name="Pastilla nivel"/>
          <p:cNvSpPr/>
          <p:nvPr/>
        </p:nvSpPr>
        <p:spPr>
          <a:xfrm>
            <a:off x="8915400" y="182880"/>
            <a:ext cx="2743200" cy="411480"/>
          </a:xfrm>
          <a:prstGeom prst="roundRect">
            <a:avLst>
              <a:gd name="adj" fmla="val 26667"/>
            </a:avLst>
          </a:prstGeom>
          <a:solidFill>
            <a:srgbClr val="FFD23F"/>
          </a:solidFill>
          <a:ln w="19050">
            <a:solidFill>
              <a:srgbClr val="0D1B3E"/>
            </a:solidFill>
            <a:prstDash val="solid"/>
          </a:ln>
        </p:spPr>
      </p:sp>
      <p:sp>
        <p:nvSpPr>
          <p:cNvPr id="7" name="Nivel"/>
          <p:cNvSpPr/>
          <p:nvPr/>
        </p:nvSpPr>
        <p:spPr>
          <a:xfrm>
            <a:off x="8915400" y="1828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D1B3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Beginner English Tips</a:t>
            </a:r>
            <a:endParaRPr lang="en-US" sz="1400" dirty="0"/>
          </a:p>
        </p:txBody>
      </p:sp>
      <p:sp>
        <p:nvSpPr>
          <p:cNvPr id="8" name="Pie"/>
          <p:cNvSpPr/>
          <p:nvPr/>
        </p:nvSpPr>
        <p:spPr>
          <a:xfrm>
            <a:off x="548640" y="6483096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D1B3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MMercedesEnglish | Beginner | Unidad y lección sin asignar | Can, can’t y could</a:t>
            </a:r>
            <a:endParaRPr lang="en-US" sz="1000" dirty="0"/>
          </a:p>
        </p:txBody>
      </p:sp>
      <p:sp>
        <p:nvSpPr>
          <p:cNvPr id="9" name="Número"/>
          <p:cNvSpPr/>
          <p:nvPr/>
        </p:nvSpPr>
        <p:spPr>
          <a:xfrm>
            <a:off x="11018520" y="6483096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D1B3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9</a:t>
            </a:r>
            <a:endParaRPr lang="en-US" sz="1100" dirty="0"/>
          </a:p>
        </p:txBody>
      </p:sp>
      <p:sp>
        <p:nvSpPr>
          <p:cNvPr id="10" name="MY NOTES"/>
          <p:cNvSpPr/>
          <p:nvPr/>
        </p:nvSpPr>
        <p:spPr>
          <a:xfrm>
            <a:off x="548640" y="590702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D1B3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MY NOTES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783080" y="6126480"/>
            <a:ext cx="9857232" cy="0"/>
          </a:xfrm>
          <a:prstGeom prst="line">
            <a:avLst/>
          </a:prstGeom>
          <a:noFill/>
          <a:ln w="12700">
            <a:solidFill>
              <a:srgbClr val="0D1B3E"/>
            </a:solidFill>
            <a:prstDash val="sysDot"/>
          </a:ln>
        </p:spPr>
      </p:sp>
      <p:sp>
        <p:nvSpPr>
          <p:cNvPr id="12" name="Título"/>
          <p:cNvSpPr/>
          <p:nvPr/>
        </p:nvSpPr>
        <p:spPr>
          <a:xfrm>
            <a:off x="548640" y="960120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0D1B3E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ELIGE SEGÚN EL CONTEXTO</a:t>
            </a:r>
            <a:endParaRPr lang="en-US" sz="3600" dirty="0"/>
          </a:p>
        </p:txBody>
      </p:sp>
      <p:sp>
        <p:nvSpPr>
          <p:cNvPr id="13" name="Tiempo"/>
          <p:cNvSpPr/>
          <p:nvPr/>
        </p:nvSpPr>
        <p:spPr>
          <a:xfrm>
            <a:off x="9875520" y="1014984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D1B3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5:40–6:30</a:t>
            </a:r>
            <a:endParaRPr lang="en-US" sz="1600" dirty="0"/>
          </a:p>
        </p:txBody>
      </p:sp>
      <p:sp>
        <p:nvSpPr>
          <p:cNvPr id="14" name="Block 0 card"/>
          <p:cNvSpPr/>
          <p:nvPr/>
        </p:nvSpPr>
        <p:spPr>
          <a:xfrm>
            <a:off x="548640" y="1874520"/>
            <a:ext cx="544068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9050">
            <a:solidFill>
              <a:srgbClr val="0D1B3E"/>
            </a:solidFill>
            <a:prstDash val="solid"/>
          </a:ln>
        </p:spPr>
      </p:sp>
      <p:sp>
        <p:nvSpPr>
          <p:cNvPr id="15" name="Block 0 label"/>
          <p:cNvSpPr/>
          <p:nvPr/>
        </p:nvSpPr>
        <p:spPr>
          <a:xfrm>
            <a:off x="777240" y="2039112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D1B3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Completa</a:t>
            </a:r>
            <a:endParaRPr lang="en-US" sz="2400" dirty="0"/>
          </a:p>
        </p:txBody>
      </p:sp>
      <p:sp>
        <p:nvSpPr>
          <p:cNvPr id="16" name="Block 0 text"/>
          <p:cNvSpPr/>
          <p:nvPr/>
        </p:nvSpPr>
        <p:spPr>
          <a:xfrm>
            <a:off x="777240" y="2624328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i="1" dirty="0">
                <a:solidFill>
                  <a:srgbClr val="0D1B3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When I was ten, I ___ swim.</a:t>
            </a:r>
            <a:endParaRPr lang="en-US" sz="2600" dirty="0"/>
          </a:p>
        </p:txBody>
      </p:sp>
      <p:sp>
        <p:nvSpPr>
          <p:cNvPr id="17" name="Block 0 detail"/>
          <p:cNvSpPr/>
          <p:nvPr/>
        </p:nvSpPr>
        <p:spPr>
          <a:xfrm>
            <a:off x="777240" y="3447288"/>
            <a:ext cx="4983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0D1B3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Habilidad general en el pasado.</a:t>
            </a:r>
            <a:endParaRPr lang="en-US" sz="2400" dirty="0"/>
          </a:p>
        </p:txBody>
      </p:sp>
      <p:sp>
        <p:nvSpPr>
          <p:cNvPr id="18" name="Block 1 card"/>
          <p:cNvSpPr/>
          <p:nvPr/>
        </p:nvSpPr>
        <p:spPr>
          <a:xfrm>
            <a:off x="6190488" y="1874520"/>
            <a:ext cx="5440680" cy="2331720"/>
          </a:xfrm>
          <a:prstGeom prst="roundRect">
            <a:avLst>
              <a:gd name="adj" fmla="val 4706"/>
            </a:avLst>
          </a:prstGeom>
          <a:solidFill>
            <a:srgbClr val="FFD23F"/>
          </a:solidFill>
          <a:ln w="19050">
            <a:solidFill>
              <a:srgbClr val="0D1B3E"/>
            </a:solidFill>
            <a:prstDash val="solid"/>
          </a:ln>
        </p:spPr>
      </p:sp>
      <p:sp>
        <p:nvSpPr>
          <p:cNvPr id="19" name="Block 1 label"/>
          <p:cNvSpPr/>
          <p:nvPr/>
        </p:nvSpPr>
        <p:spPr>
          <a:xfrm>
            <a:off x="6419088" y="2039112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D1B3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Respuesta</a:t>
            </a:r>
            <a:endParaRPr lang="en-US" sz="2400" dirty="0"/>
          </a:p>
        </p:txBody>
      </p:sp>
      <p:sp>
        <p:nvSpPr>
          <p:cNvPr id="20" name="Block 1 text"/>
          <p:cNvSpPr/>
          <p:nvPr/>
        </p:nvSpPr>
        <p:spPr>
          <a:xfrm>
            <a:off x="6419088" y="2624328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i="1" dirty="0">
                <a:solidFill>
                  <a:srgbClr val="0D1B3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When I was ten, I could swim.</a:t>
            </a:r>
            <a:endParaRPr lang="en-US" sz="2600" dirty="0"/>
          </a:p>
        </p:txBody>
      </p:sp>
      <p:sp>
        <p:nvSpPr>
          <p:cNvPr id="21" name="Block 1 detail"/>
          <p:cNvSpPr/>
          <p:nvPr/>
        </p:nvSpPr>
        <p:spPr>
          <a:xfrm>
            <a:off x="6419088" y="3447288"/>
            <a:ext cx="4983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0D1B3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Could sitúa esta habilidad en el pasado.</a:t>
            </a:r>
            <a:endParaRPr lang="en-US" sz="2400" dirty="0"/>
          </a:p>
        </p:txBody>
      </p:sp>
      <p:sp>
        <p:nvSpPr>
          <p:cNvPr id="22" name="Block 2 card"/>
          <p:cNvSpPr/>
          <p:nvPr/>
        </p:nvSpPr>
        <p:spPr>
          <a:xfrm>
            <a:off x="548640" y="4434840"/>
            <a:ext cx="11091672" cy="1188720"/>
          </a:xfrm>
          <a:prstGeom prst="roundRect">
            <a:avLst>
              <a:gd name="adj" fmla="val 9231"/>
            </a:avLst>
          </a:prstGeom>
          <a:solidFill>
            <a:srgbClr val="FFD23F"/>
          </a:solidFill>
          <a:ln w="19050">
            <a:solidFill>
              <a:srgbClr val="0D1B3E"/>
            </a:solidFill>
            <a:prstDash val="solid"/>
          </a:ln>
        </p:spPr>
      </p:sp>
      <p:sp>
        <p:nvSpPr>
          <p:cNvPr id="23" name="Block 2 label"/>
          <p:cNvSpPr/>
          <p:nvPr/>
        </p:nvSpPr>
        <p:spPr>
          <a:xfrm>
            <a:off x="749808" y="452628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D1B3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Una petición ahora</a:t>
            </a:r>
            <a:endParaRPr lang="en-US" sz="2400" dirty="0"/>
          </a:p>
        </p:txBody>
      </p:sp>
      <p:sp>
        <p:nvSpPr>
          <p:cNvPr id="24" name="Block 2 text"/>
          <p:cNvSpPr/>
          <p:nvPr/>
        </p:nvSpPr>
        <p:spPr>
          <a:xfrm>
            <a:off x="3246120" y="4544568"/>
            <a:ext cx="36576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i="1" dirty="0">
                <a:solidFill>
                  <a:srgbClr val="0D1B3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Could you help me, please?</a:t>
            </a:r>
            <a:endParaRPr lang="en-US" sz="2600" dirty="0"/>
          </a:p>
        </p:txBody>
      </p:sp>
      <p:sp>
        <p:nvSpPr>
          <p:cNvPr id="25" name="Block 2 detail"/>
          <p:cNvSpPr/>
          <p:nvPr/>
        </p:nvSpPr>
        <p:spPr>
          <a:xfrm>
            <a:off x="7132320" y="4526280"/>
            <a:ext cx="42793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0D1B3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Aquí could suaviza la petición.</a:t>
            </a:r>
            <a:endParaRPr lang="en-US" sz="2400" dirty="0"/>
          </a:p>
        </p:txBody>
      </p:sp>
    </p:spTree>
  </p:cSld>
  <p:clrMapOvr>
    <a:masterClrMapping/>
  </p:clrMapOvr>
  <p:transition spd="med" advClick="0" advTm="50000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dur="indefinite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900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9000"/>
                            </p:stCondLst>
                            <p:childTnLst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9000"/>
                            </p:stCondLst>
                            <p:childTnLst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9000"/>
                            </p:stCondLst>
                            <p:childTnLst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9000"/>
                            </p:stCondLst>
                            <p:childTnLst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9000"/>
                            </p:stCondLst>
                            <p:childTnLst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9000"/>
                            </p:stCondLst>
                            <p:childTnLst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9000"/>
                            </p:stCondLst>
                            <p:childTnLst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B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18872"/>
            <a:ext cx="548640" cy="54864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4" name="Logo MM"/>
          <p:cNvSpPr/>
          <p:nvPr/>
        </p:nvSpPr>
        <p:spPr>
          <a:xfrm>
            <a:off x="457200" y="118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D1B3E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MM</a:t>
            </a:r>
            <a:endParaRPr lang="en-US" sz="2000" dirty="0"/>
          </a:p>
        </p:txBody>
      </p:sp>
      <p:sp>
        <p:nvSpPr>
          <p:cNvPr id="5" name="Lema"/>
          <p:cNvSpPr/>
          <p:nvPr/>
        </p:nvSpPr>
        <p:spPr>
          <a:xfrm>
            <a:off x="1188720" y="11887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Tiny Tips, Big Progress</a:t>
            </a:r>
            <a:endParaRPr lang="en-US" sz="1600" dirty="0"/>
          </a:p>
        </p:txBody>
      </p:sp>
      <p:sp>
        <p:nvSpPr>
          <p:cNvPr id="6" name="Pastilla nivel"/>
          <p:cNvSpPr/>
          <p:nvPr/>
        </p:nvSpPr>
        <p:spPr>
          <a:xfrm>
            <a:off x="8915400" y="182880"/>
            <a:ext cx="2743200" cy="411480"/>
          </a:xfrm>
          <a:prstGeom prst="roundRect">
            <a:avLst>
              <a:gd name="adj" fmla="val 26667"/>
            </a:avLst>
          </a:prstGeom>
          <a:solidFill>
            <a:srgbClr val="FFD23F"/>
          </a:solidFill>
          <a:ln w="19050">
            <a:solidFill>
              <a:srgbClr val="0D1B3E"/>
            </a:solidFill>
            <a:prstDash val="solid"/>
          </a:ln>
        </p:spPr>
      </p:sp>
      <p:sp>
        <p:nvSpPr>
          <p:cNvPr id="7" name="Nivel"/>
          <p:cNvSpPr/>
          <p:nvPr/>
        </p:nvSpPr>
        <p:spPr>
          <a:xfrm>
            <a:off x="8915400" y="1828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D1B3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Beginner English Tips</a:t>
            </a:r>
            <a:endParaRPr lang="en-US" sz="1400" dirty="0"/>
          </a:p>
        </p:txBody>
      </p:sp>
      <p:sp>
        <p:nvSpPr>
          <p:cNvPr id="8" name="Pie"/>
          <p:cNvSpPr/>
          <p:nvPr/>
        </p:nvSpPr>
        <p:spPr>
          <a:xfrm>
            <a:off x="548640" y="6483096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D1B3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MMercedesEnglish | Beginner | Unidad y lección sin asignar | Can, can’t y could</a:t>
            </a:r>
            <a:endParaRPr lang="en-US" sz="1000" dirty="0"/>
          </a:p>
        </p:txBody>
      </p:sp>
      <p:sp>
        <p:nvSpPr>
          <p:cNvPr id="9" name="Número"/>
          <p:cNvSpPr/>
          <p:nvPr/>
        </p:nvSpPr>
        <p:spPr>
          <a:xfrm>
            <a:off x="11018520" y="6483096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D1B3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10</a:t>
            </a:r>
            <a:endParaRPr lang="en-US" sz="1100" dirty="0"/>
          </a:p>
        </p:txBody>
      </p:sp>
      <p:sp>
        <p:nvSpPr>
          <p:cNvPr id="10" name="MY NOTES"/>
          <p:cNvSpPr/>
          <p:nvPr/>
        </p:nvSpPr>
        <p:spPr>
          <a:xfrm>
            <a:off x="548640" y="590702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D1B3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MY NOTES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783080" y="6126480"/>
            <a:ext cx="9857232" cy="0"/>
          </a:xfrm>
          <a:prstGeom prst="line">
            <a:avLst/>
          </a:prstGeom>
          <a:noFill/>
          <a:ln w="12700">
            <a:solidFill>
              <a:srgbClr val="0D1B3E"/>
            </a:solidFill>
            <a:prstDash val="sysDot"/>
          </a:ln>
        </p:spPr>
      </p:sp>
      <p:sp>
        <p:nvSpPr>
          <p:cNvPr id="12" name="Título"/>
          <p:cNvSpPr/>
          <p:nvPr/>
        </p:nvSpPr>
        <p:spPr>
          <a:xfrm>
            <a:off x="548640" y="960120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0D1B3E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DE ESCUCHAR A DECIR</a:t>
            </a:r>
            <a:endParaRPr lang="en-US" sz="3600" dirty="0"/>
          </a:p>
        </p:txBody>
      </p:sp>
      <p:sp>
        <p:nvSpPr>
          <p:cNvPr id="13" name="Tiempo"/>
          <p:cNvSpPr/>
          <p:nvPr/>
        </p:nvSpPr>
        <p:spPr>
          <a:xfrm>
            <a:off x="9875520" y="1014984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D1B3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6:30–7:20</a:t>
            </a:r>
            <a:endParaRPr lang="en-US" sz="1600" dirty="0"/>
          </a:p>
        </p:txBody>
      </p:sp>
      <p:sp>
        <p:nvSpPr>
          <p:cNvPr id="14" name="Block 0 card"/>
          <p:cNvSpPr/>
          <p:nvPr/>
        </p:nvSpPr>
        <p:spPr>
          <a:xfrm>
            <a:off x="548640" y="1874520"/>
            <a:ext cx="544068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9050">
            <a:solidFill>
              <a:srgbClr val="0D1B3E"/>
            </a:solidFill>
            <a:prstDash val="solid"/>
          </a:ln>
        </p:spPr>
      </p:sp>
      <p:sp>
        <p:nvSpPr>
          <p:cNvPr id="15" name="Block 0 label"/>
          <p:cNvSpPr/>
          <p:nvPr/>
        </p:nvSpPr>
        <p:spPr>
          <a:xfrm>
            <a:off x="777240" y="2039112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D1B3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Tu habilidad</a:t>
            </a:r>
            <a:endParaRPr lang="en-US" sz="2400" dirty="0"/>
          </a:p>
        </p:txBody>
      </p:sp>
      <p:sp>
        <p:nvSpPr>
          <p:cNvPr id="16" name="Block 0 text"/>
          <p:cNvSpPr/>
          <p:nvPr/>
        </p:nvSpPr>
        <p:spPr>
          <a:xfrm>
            <a:off x="777240" y="2624328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i="1" dirty="0">
                <a:solidFill>
                  <a:srgbClr val="0D1B3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 can… / I can’t…</a:t>
            </a:r>
            <a:endParaRPr lang="en-US" sz="2600" dirty="0"/>
          </a:p>
        </p:txBody>
      </p:sp>
      <p:sp>
        <p:nvSpPr>
          <p:cNvPr id="17" name="Block 0 detail"/>
          <p:cNvSpPr/>
          <p:nvPr/>
        </p:nvSpPr>
        <p:spPr>
          <a:xfrm>
            <a:off x="777240" y="3447288"/>
            <a:ext cx="4983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0D1B3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Elige algo que sea verdad para ti.</a:t>
            </a:r>
            <a:endParaRPr lang="en-US" sz="2400" dirty="0"/>
          </a:p>
        </p:txBody>
      </p:sp>
      <p:sp>
        <p:nvSpPr>
          <p:cNvPr id="18" name="Block 1 card"/>
          <p:cNvSpPr/>
          <p:nvPr/>
        </p:nvSpPr>
        <p:spPr>
          <a:xfrm>
            <a:off x="6190488" y="1874520"/>
            <a:ext cx="5440680" cy="2331720"/>
          </a:xfrm>
          <a:prstGeom prst="roundRect">
            <a:avLst>
              <a:gd name="adj" fmla="val 4706"/>
            </a:avLst>
          </a:prstGeom>
          <a:solidFill>
            <a:srgbClr val="FFD23F"/>
          </a:solidFill>
          <a:ln w="19050">
            <a:solidFill>
              <a:srgbClr val="0D1B3E"/>
            </a:solidFill>
            <a:prstDash val="solid"/>
          </a:ln>
        </p:spPr>
      </p:sp>
      <p:sp>
        <p:nvSpPr>
          <p:cNvPr id="19" name="Block 1 label"/>
          <p:cNvSpPr/>
          <p:nvPr/>
        </p:nvSpPr>
        <p:spPr>
          <a:xfrm>
            <a:off x="6419088" y="2039112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D1B3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Un ejemplo posible</a:t>
            </a:r>
            <a:endParaRPr lang="en-US" sz="2400" dirty="0"/>
          </a:p>
        </p:txBody>
      </p:sp>
      <p:sp>
        <p:nvSpPr>
          <p:cNvPr id="20" name="Block 1 text"/>
          <p:cNvSpPr/>
          <p:nvPr/>
        </p:nvSpPr>
        <p:spPr>
          <a:xfrm>
            <a:off x="6419088" y="2624328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i="1" dirty="0">
                <a:solidFill>
                  <a:srgbClr val="0D1B3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 can cook. I can’t drive.</a:t>
            </a:r>
            <a:endParaRPr lang="en-US" sz="2600" dirty="0"/>
          </a:p>
        </p:txBody>
      </p:sp>
      <p:sp>
        <p:nvSpPr>
          <p:cNvPr id="21" name="Block 1 detail"/>
          <p:cNvSpPr/>
          <p:nvPr/>
        </p:nvSpPr>
        <p:spPr>
          <a:xfrm>
            <a:off x="6419088" y="3447288"/>
            <a:ext cx="4983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0D1B3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Sé cocinar. No sé conducir.</a:t>
            </a:r>
            <a:endParaRPr lang="en-US" sz="2400" dirty="0"/>
          </a:p>
        </p:txBody>
      </p:sp>
      <p:sp>
        <p:nvSpPr>
          <p:cNvPr id="22" name="Block 2 card"/>
          <p:cNvSpPr/>
          <p:nvPr/>
        </p:nvSpPr>
        <p:spPr>
          <a:xfrm>
            <a:off x="548640" y="4434840"/>
            <a:ext cx="11091672" cy="1188720"/>
          </a:xfrm>
          <a:prstGeom prst="roundRect">
            <a:avLst>
              <a:gd name="adj" fmla="val 9231"/>
            </a:avLst>
          </a:prstGeom>
          <a:solidFill>
            <a:srgbClr val="FFD23F"/>
          </a:solidFill>
          <a:ln w="19050">
            <a:solidFill>
              <a:srgbClr val="0D1B3E"/>
            </a:solidFill>
            <a:prstDash val="solid"/>
          </a:ln>
        </p:spPr>
      </p:sp>
      <p:sp>
        <p:nvSpPr>
          <p:cNvPr id="23" name="Block 2 label"/>
          <p:cNvSpPr/>
          <p:nvPr/>
        </p:nvSpPr>
        <p:spPr>
          <a:xfrm>
            <a:off x="749808" y="452628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D1B3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Pide ayuda</a:t>
            </a:r>
            <a:endParaRPr lang="en-US" sz="2400" dirty="0"/>
          </a:p>
        </p:txBody>
      </p:sp>
      <p:sp>
        <p:nvSpPr>
          <p:cNvPr id="24" name="Block 2 text"/>
          <p:cNvSpPr/>
          <p:nvPr/>
        </p:nvSpPr>
        <p:spPr>
          <a:xfrm>
            <a:off x="3246120" y="4544568"/>
            <a:ext cx="36576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i="1" dirty="0">
                <a:solidFill>
                  <a:srgbClr val="0D1B3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Could you help me, please?</a:t>
            </a:r>
            <a:endParaRPr lang="en-US" sz="2600" dirty="0"/>
          </a:p>
        </p:txBody>
      </p:sp>
      <p:sp>
        <p:nvSpPr>
          <p:cNvPr id="25" name="Block 2 detail"/>
          <p:cNvSpPr/>
          <p:nvPr/>
        </p:nvSpPr>
        <p:spPr>
          <a:xfrm>
            <a:off x="7132320" y="4526280"/>
            <a:ext cx="42793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0D1B3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Practica la petición completa.</a:t>
            </a:r>
            <a:endParaRPr lang="en-US" sz="2400" dirty="0"/>
          </a:p>
        </p:txBody>
      </p:sp>
    </p:spTree>
  </p:cSld>
  <p:clrMapOvr>
    <a:masterClrMapping/>
  </p:clrMapOvr>
  <p:transition spd="med" advClick="0" advTm="500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dur="indefinite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2100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1000"/>
                            </p:stCondLst>
                            <p:childTnLst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1000"/>
                            </p:stCondLst>
                            <p:childTnLst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1000"/>
                            </p:stCondLst>
                            <p:childTnLst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9000"/>
                            </p:stCondLst>
                            <p:childTnLst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9000"/>
                            </p:stCondLst>
                            <p:childTnLst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9000"/>
                            </p:stCondLst>
                            <p:childTnLst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9000"/>
                            </p:stCondLst>
                            <p:childTnLst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B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18872"/>
            <a:ext cx="548640" cy="54864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4" name="Logo MM"/>
          <p:cNvSpPr/>
          <p:nvPr/>
        </p:nvSpPr>
        <p:spPr>
          <a:xfrm>
            <a:off x="457200" y="118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D1B3E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MM</a:t>
            </a:r>
            <a:endParaRPr lang="en-US" sz="2000" dirty="0"/>
          </a:p>
        </p:txBody>
      </p:sp>
      <p:sp>
        <p:nvSpPr>
          <p:cNvPr id="5" name="Lema"/>
          <p:cNvSpPr/>
          <p:nvPr/>
        </p:nvSpPr>
        <p:spPr>
          <a:xfrm>
            <a:off x="1188720" y="11887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Tiny Tips, Big Progress</a:t>
            </a:r>
            <a:endParaRPr lang="en-US" sz="1600" dirty="0"/>
          </a:p>
        </p:txBody>
      </p:sp>
      <p:sp>
        <p:nvSpPr>
          <p:cNvPr id="6" name="Pastilla nivel"/>
          <p:cNvSpPr/>
          <p:nvPr/>
        </p:nvSpPr>
        <p:spPr>
          <a:xfrm>
            <a:off x="8915400" y="182880"/>
            <a:ext cx="2743200" cy="411480"/>
          </a:xfrm>
          <a:prstGeom prst="roundRect">
            <a:avLst>
              <a:gd name="adj" fmla="val 26667"/>
            </a:avLst>
          </a:prstGeom>
          <a:solidFill>
            <a:srgbClr val="FFD23F"/>
          </a:solidFill>
          <a:ln w="19050">
            <a:solidFill>
              <a:srgbClr val="0D1B3E"/>
            </a:solidFill>
            <a:prstDash val="solid"/>
          </a:ln>
        </p:spPr>
      </p:sp>
      <p:sp>
        <p:nvSpPr>
          <p:cNvPr id="7" name="Nivel"/>
          <p:cNvSpPr/>
          <p:nvPr/>
        </p:nvSpPr>
        <p:spPr>
          <a:xfrm>
            <a:off x="8915400" y="1828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D1B3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Beginner English Tips</a:t>
            </a:r>
            <a:endParaRPr lang="en-US" sz="1400" dirty="0"/>
          </a:p>
        </p:txBody>
      </p:sp>
      <p:sp>
        <p:nvSpPr>
          <p:cNvPr id="8" name="Pie"/>
          <p:cNvSpPr/>
          <p:nvPr/>
        </p:nvSpPr>
        <p:spPr>
          <a:xfrm>
            <a:off x="548640" y="6483096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D1B3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MMercedesEnglish | Beginner | Unidad y lección sin asignar | Can, can’t y could</a:t>
            </a:r>
            <a:endParaRPr lang="en-US" sz="1000" dirty="0"/>
          </a:p>
        </p:txBody>
      </p:sp>
      <p:sp>
        <p:nvSpPr>
          <p:cNvPr id="9" name="Número"/>
          <p:cNvSpPr/>
          <p:nvPr/>
        </p:nvSpPr>
        <p:spPr>
          <a:xfrm>
            <a:off x="11018520" y="6483096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D1B3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11</a:t>
            </a:r>
            <a:endParaRPr lang="en-US" sz="1100" dirty="0"/>
          </a:p>
        </p:txBody>
      </p:sp>
      <p:sp>
        <p:nvSpPr>
          <p:cNvPr id="10" name="MY NOTES"/>
          <p:cNvSpPr/>
          <p:nvPr/>
        </p:nvSpPr>
        <p:spPr>
          <a:xfrm>
            <a:off x="548640" y="590702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D1B3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MY NOTES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783080" y="6126480"/>
            <a:ext cx="9857232" cy="0"/>
          </a:xfrm>
          <a:prstGeom prst="line">
            <a:avLst/>
          </a:prstGeom>
          <a:noFill/>
          <a:ln w="12700">
            <a:solidFill>
              <a:srgbClr val="0D1B3E"/>
            </a:solidFill>
            <a:prstDash val="sysDot"/>
          </a:ln>
        </p:spPr>
      </p:sp>
      <p:sp>
        <p:nvSpPr>
          <p:cNvPr id="12" name="Título"/>
          <p:cNvSpPr/>
          <p:nvPr/>
        </p:nvSpPr>
        <p:spPr>
          <a:xfrm>
            <a:off x="548640" y="960120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0D1B3E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PREGUNTA DE SALIDA</a:t>
            </a:r>
            <a:endParaRPr lang="en-US" sz="3600" dirty="0"/>
          </a:p>
        </p:txBody>
      </p:sp>
      <p:sp>
        <p:nvSpPr>
          <p:cNvPr id="13" name="Tiempo"/>
          <p:cNvSpPr/>
          <p:nvPr/>
        </p:nvSpPr>
        <p:spPr>
          <a:xfrm>
            <a:off x="9875520" y="1014984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D1B3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7:20–8:00</a:t>
            </a:r>
            <a:endParaRPr lang="en-US" sz="1600" dirty="0"/>
          </a:p>
        </p:txBody>
      </p:sp>
      <p:sp>
        <p:nvSpPr>
          <p:cNvPr id="14" name="Block 0 card"/>
          <p:cNvSpPr/>
          <p:nvPr/>
        </p:nvSpPr>
        <p:spPr>
          <a:xfrm>
            <a:off x="548640" y="1874520"/>
            <a:ext cx="544068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9050">
            <a:solidFill>
              <a:srgbClr val="0D1B3E"/>
            </a:solidFill>
            <a:prstDash val="solid"/>
          </a:ln>
        </p:spPr>
      </p:sp>
      <p:sp>
        <p:nvSpPr>
          <p:cNvPr id="15" name="Block 0 label"/>
          <p:cNvSpPr/>
          <p:nvPr/>
        </p:nvSpPr>
        <p:spPr>
          <a:xfrm>
            <a:off x="777240" y="2039112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D1B3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Corrige la frase</a:t>
            </a:r>
            <a:endParaRPr lang="en-US" sz="2400" dirty="0"/>
          </a:p>
        </p:txBody>
      </p:sp>
      <p:sp>
        <p:nvSpPr>
          <p:cNvPr id="16" name="Block 0 text"/>
          <p:cNvSpPr/>
          <p:nvPr/>
        </p:nvSpPr>
        <p:spPr>
          <a:xfrm>
            <a:off x="777240" y="2624328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i="1" dirty="0">
                <a:solidFill>
                  <a:srgbClr val="0D1B3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She can to swim.</a:t>
            </a:r>
            <a:endParaRPr lang="en-US" sz="2600" dirty="0"/>
          </a:p>
        </p:txBody>
      </p:sp>
      <p:sp>
        <p:nvSpPr>
          <p:cNvPr id="17" name="Block 0 detail"/>
          <p:cNvSpPr/>
          <p:nvPr/>
        </p:nvSpPr>
        <p:spPr>
          <a:xfrm>
            <a:off x="777240" y="3447288"/>
            <a:ext cx="4983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0D1B3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Después de can, revisa la forma del verbo.</a:t>
            </a:r>
            <a:endParaRPr lang="en-US" sz="2400" dirty="0"/>
          </a:p>
        </p:txBody>
      </p:sp>
      <p:sp>
        <p:nvSpPr>
          <p:cNvPr id="18" name="Block 1 card"/>
          <p:cNvSpPr/>
          <p:nvPr/>
        </p:nvSpPr>
        <p:spPr>
          <a:xfrm>
            <a:off x="6190488" y="1874520"/>
            <a:ext cx="5440680" cy="2331720"/>
          </a:xfrm>
          <a:prstGeom prst="roundRect">
            <a:avLst>
              <a:gd name="adj" fmla="val 4706"/>
            </a:avLst>
          </a:prstGeom>
          <a:solidFill>
            <a:srgbClr val="FFD23F"/>
          </a:solidFill>
          <a:ln w="19050">
            <a:solidFill>
              <a:srgbClr val="0D1B3E"/>
            </a:solidFill>
            <a:prstDash val="solid"/>
          </a:ln>
        </p:spPr>
      </p:sp>
      <p:sp>
        <p:nvSpPr>
          <p:cNvPr id="19" name="Block 1 label"/>
          <p:cNvSpPr/>
          <p:nvPr/>
        </p:nvSpPr>
        <p:spPr>
          <a:xfrm>
            <a:off x="6419088" y="2039112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D1B3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Respuesta</a:t>
            </a:r>
            <a:endParaRPr lang="en-US" sz="2400" dirty="0"/>
          </a:p>
        </p:txBody>
      </p:sp>
      <p:sp>
        <p:nvSpPr>
          <p:cNvPr id="20" name="Block 1 text"/>
          <p:cNvSpPr/>
          <p:nvPr/>
        </p:nvSpPr>
        <p:spPr>
          <a:xfrm>
            <a:off x="6419088" y="2624328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i="1" dirty="0">
                <a:solidFill>
                  <a:srgbClr val="0D1B3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She can swim.</a:t>
            </a:r>
            <a:endParaRPr lang="en-US" sz="2600" dirty="0"/>
          </a:p>
        </p:txBody>
      </p:sp>
      <p:sp>
        <p:nvSpPr>
          <p:cNvPr id="21" name="Block 1 detail"/>
          <p:cNvSpPr/>
          <p:nvPr/>
        </p:nvSpPr>
        <p:spPr>
          <a:xfrm>
            <a:off x="6419088" y="3447288"/>
            <a:ext cx="4983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0D1B3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El verbo va sin to.</a:t>
            </a:r>
            <a:endParaRPr lang="en-US" sz="2400" dirty="0"/>
          </a:p>
        </p:txBody>
      </p:sp>
      <p:sp>
        <p:nvSpPr>
          <p:cNvPr id="22" name="Block 2 card"/>
          <p:cNvSpPr/>
          <p:nvPr/>
        </p:nvSpPr>
        <p:spPr>
          <a:xfrm>
            <a:off x="548640" y="4434840"/>
            <a:ext cx="11091672" cy="1188720"/>
          </a:xfrm>
          <a:prstGeom prst="roundRect">
            <a:avLst>
              <a:gd name="adj" fmla="val 9231"/>
            </a:avLst>
          </a:prstGeom>
          <a:solidFill>
            <a:srgbClr val="FFD23F"/>
          </a:solidFill>
          <a:ln w="19050">
            <a:solidFill>
              <a:srgbClr val="0D1B3E"/>
            </a:solidFill>
            <a:prstDash val="solid"/>
          </a:ln>
        </p:spPr>
      </p:sp>
      <p:sp>
        <p:nvSpPr>
          <p:cNvPr id="23" name="Block 2 label"/>
          <p:cNvSpPr/>
          <p:nvPr/>
        </p:nvSpPr>
        <p:spPr>
          <a:xfrm>
            <a:off x="749808" y="452628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D1B3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Lo que te llevas</a:t>
            </a:r>
            <a:endParaRPr lang="en-US" sz="2400" dirty="0"/>
          </a:p>
        </p:txBody>
      </p:sp>
      <p:sp>
        <p:nvSpPr>
          <p:cNvPr id="24" name="Block 2 text"/>
          <p:cNvSpPr/>
          <p:nvPr/>
        </p:nvSpPr>
        <p:spPr>
          <a:xfrm>
            <a:off x="3246120" y="4544568"/>
            <a:ext cx="36576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dirty="0">
                <a:solidFill>
                  <a:srgbClr val="0D1B3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Tus habilidades</a:t>
            </a:r>
            <a:endParaRPr lang="en-US" sz="2600" dirty="0"/>
          </a:p>
        </p:txBody>
      </p:sp>
      <p:sp>
        <p:nvSpPr>
          <p:cNvPr id="25" name="Block 2 detail"/>
          <p:cNvSpPr/>
          <p:nvPr/>
        </p:nvSpPr>
        <p:spPr>
          <a:xfrm>
            <a:off x="7132320" y="4526280"/>
            <a:ext cx="42793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0D1B3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Could: habilidad pasada o petición amable.</a:t>
            </a:r>
            <a:endParaRPr lang="en-US" sz="2400" dirty="0"/>
          </a:p>
        </p:txBody>
      </p:sp>
    </p:spTree>
  </p:cSld>
  <p:clrMapOvr>
    <a:masterClrMapping/>
  </p:clrMapOvr>
  <p:transition spd="slow" advClick="0" advTm="40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dur="indefinite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800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8000"/>
                            </p:stCondLst>
                            <p:childTnLst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8000"/>
                            </p:stCondLst>
                            <p:childTnLst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8000"/>
                            </p:stCondLst>
                            <p:childTnLst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8000"/>
                            </p:stCondLst>
                            <p:childTnLst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8000"/>
                            </p:stCondLst>
                            <p:childTnLst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8000"/>
                            </p:stCondLst>
                            <p:childTnLst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8000"/>
                            </p:stCondLst>
                            <p:childTnLst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</p:bldLst>
  </p:timing>
</p:sld>
</file>

<file path=ppt/theme/theme1.xml><?xml version="1.0" encoding="utf-8"?>
<a:theme xmlns:a="http://schemas.openxmlformats.org/drawingml/2006/main" name="MMercedesEnglish">
  <a:themeElements>
    <a:clrScheme name="MMercedesEnglish">
      <a:dk1>
        <a:srgbClr val="0D1B3E"/>
      </a:dk1>
      <a:lt1>
        <a:srgbClr val="FFFFFF"/>
      </a:lt1>
      <a:dk2>
        <a:srgbClr val="BE9100"/>
      </a:dk2>
      <a:lt2>
        <a:srgbClr val="FFFBF0"/>
      </a:lt2>
      <a:accent1>
        <a:srgbClr val="FFD23F"/>
      </a:accent1>
      <a:accent2>
        <a:srgbClr val="0D1B3E"/>
      </a:accent2>
      <a:accent3>
        <a:srgbClr val="BE9100"/>
      </a:accent3>
      <a:accent4>
        <a:srgbClr val="FFFBF0"/>
      </a:accent4>
      <a:accent5>
        <a:srgbClr val="FFFFFF"/>
      </a:accent5>
      <a:accent6>
        <a:srgbClr val="FFD23F"/>
      </a:accent6>
      <a:hlink>
        <a:srgbClr val="0D1B3E"/>
      </a:hlink>
      <a:folHlink>
        <a:srgbClr val="BE9100"/>
      </a:folHlink>
    </a:clrScheme>
    <a:fontScheme name="MMercedesEnglish">
      <a:majorFont>
        <a:latin typeface="Big Shoulder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Work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Can, can’t y could</dc:title>
  <dc:subject>Beginner | Can, can’t y could | 8 minutos</dc:subject>
  <dc:creator>MMercedesEnglish</dc:creator>
  <cp:lastModifiedBy>MMercedesEnglish</cp:lastModifiedBy>
  <cp:revision>1</cp:revision>
  <dcterms:created xsi:type="dcterms:W3CDTF">2026-10-11T02:53:21Z</dcterms:created>
  <dcterms:modified xsi:type="dcterms:W3CDTF">2026-10-11T02:53:21Z</dcterms:modified>
</cp:coreProperties>
</file>