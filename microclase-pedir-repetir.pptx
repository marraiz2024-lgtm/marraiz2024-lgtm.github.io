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9674c843-3860-9395-1b4a-5d72c175f6cb}">
          <p14:sldIdLst>
            <p14:sldId id="256"/>
          </p14:sldIdLst>
        </p14:section>
        <p14:section name="Situación" id="{adc323d7-d2af-07c1-2a86-5211febc1c02}">
          <p14:sldIdLst>
            <p14:sldId id="257"/>
          </p14:sldIdLst>
        </p14:section>
        <p14:section name="Expresión 1" id="{82bf74a4-c5a4-da71-2354-5b0969e67ca7}">
          <p14:sldIdLst>
            <p14:sldId id="258"/>
          </p14:sldIdLst>
        </p14:section>
        <p14:section name="Modelado" id="{61a6eed8-82f2-2ea6-fdbb-1ed1012f8233}">
          <p14:sldIdLst>
            <p14:sldId id="259"/>
          </p14:sldIdLst>
        </p14:section>
        <p14:section name="Expresión 2" id="{34454ba9-5c72-7123-a004-eecb07ae2972}">
          <p14:sldIdLst>
            <p14:sldId id="260"/>
          </p14:sldIdLst>
        </p14:section>
        <p14:section name="Ejemplo" id="{2376e720-5f90-8416-5991-001cc071d9d2}">
          <p14:sldIdLst>
            <p14:sldId id="261"/>
          </p14:sldIdLst>
        </p14:section>
        <p14:section name="Práctica guiada" id="{7be57f35-07c0-0c1a-b96b-25541bd9c907}">
          <p14:sldIdLst>
            <p14:sldId id="262"/>
            <p14:sldId id="263"/>
          </p14:sldIdLst>
        </p14:section>
        <p14:section name="Comprobación" id="{b985913d-a8a5-282c-056f-54ff859536eb}">
          <p14:sldIdLst>
            <p14:sldId id="264"/>
            <p14:sldId id="265"/>
          </p14:sldIdLst>
        </p14:section>
        <p14:section name="Cierre" id="{f22eb5c2-7bb6-3a4b-13c9-a10a41f2f589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[0:00–0:25] APERTURA
Hola. ¿Te ha pasado que alguien te dice algo en inglés y no lo escuchas bien? En esta microclase vas a practicar dos frases corteses para pedir que repitan. Al final, úsalas en un diálogo y responde al dato que escuches.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[0:25–0:55] SITUACIÓN
Escucha esta conversación. (Reproduce o di la respuesta rápido y con volumen bajo.)
A: What do you do? B: I work in a shop.
¿Escuchaste la ocupación? Si no, no hace falta adivinar ni decir solo “What?”. Puedes pedir que la persona repita.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[0:55–1:35] EXPRESIÓN 1
Primera expresión. Di: “Sorry, could you say that again?”. Significa: “Perdón, ¿podrías repetir eso?”.
“Sorry” suaviza la interrupción. “Could you” hace la petición cortés. “Say that again” pide escuchar el mensaje otra vez. (Señala cada segmento en pantalla.)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[1:35–2:10] MODELADO
A: What do you do? B: I work in a shop. A: Sorry, could you say that again? B: Sure. I said, “I work in a shop.” A: Oh, you work in a shop. Thanks.
La otra persona repite la información y quien escucha confirma que la entendió.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[2:10–2:55] EXPRESIÓN 2
También puedes decir lo que te pasó: “Sorry, I didn’t catch that.”. Significa: “Perdón, no alcancé a escuchar eso”. “Catch” significa captar o alcanzar a escuchar.
Aquí no pides la repetición de forma directa. Explicas que no escuchaste y la otra persona entiende que debe repetir. Suena natural con compañeros, clientes y amigos.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[2:55–3:25] EJEMPLO
Mira un ejemplo. A: Where do you live? B: I live in Houston. A: Sorry, I didn’t catch that. B: No problem. I said, “I live in Houston.” A: Oh, you live in Houston. Nice.
A no escuchó la ciudad. B repite el dato y A confirma que lo entendió.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[3:25–3:55] PRÁCTICA GUIADA
Ahora te toca. Escucha: “I’m from Colombia, and I live in Miami.” (Pausa de 5 segundos.) ¿Qué puedes decir si no escuchaste bien? (Pausa de 4 segundos.)
Audio: reprodúcelo con volumen normal y claro, para que el alumno pueda hacer el ejercicio.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[3:55–4:15] RESPUESTAS
Muy bien. Puedes decir: “Sorry, could you say that again?” o “Sorry, I didn’t catch that.” La respuesta puede ser: “Sure. I said, ‘I’m from Colombia, and I live in Miami.’”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[4:15–4:55] COMPROBACIÓN
Último intento. Escucha: “I like hiking after work.” (Pausa de 5 segundos.) Pide que lo repitan. (Pausa.) Ahora escucha la respuesta otra vez: “I like hiking after work.” ¿Qué le gusta hacer? (Pausa de 4 segundos.)
Avanza al siguiente slide solo después de la pausa.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[4:55–5:20] RESPUESTA
Hiking: le gusta hacer caminatas. Para completar la interacción, podrías responder: “Oh, you like hiking. That sounds fun.”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[5:20–6:00] CIERRE
Hoy practicaste dos formas corteses de reparar una dificultad: “Sorry, could you say that again?” y “Sorry, I didn’t catch that.” Recuerda los dos pasos: pedir que repitan y responder al dato que escuchaste.
Pregunta de salida: ¿cómo pedirías que repitan si no escuchas “I’m a nurse”? Pausa el video, responde en voz alta con la expresión que prefieras y luego comprueba con las dos frases en pantalla.</a:t>
            </a:r>
            <a:r>
              <a:t> Gracias por practicar conmigo. Hasta la próxima.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M_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 |  Beginner  |  Microclase  |  Asking for repetition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8704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83080" y="6144768"/>
            <a:ext cx="98755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111099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</a:ln>
        </p:spPr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Título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M_OPEN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 |  Beginner  |  Microclase  |  Asking for repetition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Título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M_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 |  Beginner  |  Microclase  |  Asking for repetition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Pastilla microclase"/>
          <p:cNvSpPr/>
          <p:nvPr/>
        </p:nvSpPr>
        <p:spPr>
          <a:xfrm>
            <a:off x="548640" y="1188720"/>
            <a:ext cx="23774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o pastilla"/>
          <p:cNvSpPr txBox="1"/>
          <p:nvPr/>
        </p:nvSpPr>
        <p:spPr>
          <a:xfrm>
            <a:off x="54864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Microclase · 6 min</a:t>
            </a:r>
            <a:endParaRPr lang="en-US" sz="1600" dirty="0"/>
          </a:p>
        </p:txBody>
      </p:sp>
      <p:sp>
        <p:nvSpPr>
          <p:cNvPr id="8" name="Título portada"/>
          <p:cNvSpPr txBox="1"/>
          <p:nvPr/>
        </p:nvSpPr>
        <p:spPr>
          <a:xfrm>
            <a:off x="548640" y="1783080"/>
            <a:ext cx="7040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SORRY, COULD YOU SAY THAT AGAIN?</a:t>
            </a:r>
            <a:endParaRPr lang="en-US" sz="5400" dirty="0"/>
          </a:p>
        </p:txBody>
      </p:sp>
      <p:sp>
        <p:nvSpPr>
          <p:cNvPr id="9" name="Subtítulo portada"/>
          <p:cNvSpPr txBox="1"/>
          <p:nvPr/>
        </p:nvSpPr>
        <p:spPr>
          <a:xfrm>
            <a:off x="548640" y="44348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Pide que repitan con cortesía y responde al dato que escuchas.</a:t>
            </a:r>
            <a:endParaRPr lang="en-US" sz="2600" dirty="0"/>
          </a:p>
        </p:txBody>
      </p:sp>
      <p:sp>
        <p:nvSpPr>
          <p:cNvPr id="10" name="Lema"/>
          <p:cNvSpPr/>
          <p:nvPr/>
        </p:nvSpPr>
        <p:spPr>
          <a:xfrm>
            <a:off x="548640" y="5577840"/>
            <a:ext cx="384048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o lema"/>
          <p:cNvSpPr txBox="1"/>
          <p:nvPr/>
        </p:nvSpPr>
        <p:spPr>
          <a:xfrm>
            <a:off x="548640" y="5577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800" dirty="0"/>
          </a:p>
        </p:txBody>
      </p:sp>
      <p:sp>
        <p:nvSpPr>
          <p:cNvPr id="12" name="Marco avatar"/>
          <p:cNvSpPr/>
          <p:nvPr/>
        </p:nvSpPr>
        <p:spPr>
          <a:xfrm>
            <a:off x="7799832" y="1051560"/>
            <a:ext cx="3841784" cy="4754880"/>
          </a:xfrm>
          <a:prstGeom prst="roundRect">
            <a:avLst>
              <a:gd name="adj" fmla="val 285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Avatar Mercedes" descr="Mercedes, profesora de MMercedesEngl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2" y="1143000"/>
            <a:ext cx="3658904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¿ESCUCHASTE LA OCUPACIÓN?</a:t>
            </a:r>
            <a:endParaRPr lang="en-US" sz="3600" dirty="0"/>
          </a:p>
        </p:txBody>
      </p:sp>
      <p:sp>
        <p:nvSpPr>
          <p:cNvPr id="7" name="Tarjeta diálogo"/>
          <p:cNvSpPr/>
          <p:nvPr/>
        </p:nvSpPr>
        <p:spPr>
          <a:xfrm>
            <a:off x="548640" y="1874520"/>
            <a:ext cx="658368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Etiqueta diálogo"/>
          <p:cNvSpPr txBox="1"/>
          <p:nvPr/>
        </p:nvSpPr>
        <p:spPr>
          <a:xfrm>
            <a:off x="86868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ESCUCHA</a:t>
            </a:r>
            <a:endParaRPr lang="en-US" sz="1800" dirty="0"/>
          </a:p>
        </p:txBody>
      </p:sp>
      <p:pic>
        <p:nvPicPr>
          <p:cNvPr id="9" name="Ícono audio" descr="Altavo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011680"/>
            <a:ext cx="457200" cy="457200"/>
          </a:xfrm>
          <a:prstGeom prst="rect">
            <a:avLst/>
          </a:prstGeom>
        </p:spPr>
      </p:pic>
      <p:sp>
        <p:nvSpPr>
          <p:cNvPr id="10" name="Diálogo"/>
          <p:cNvSpPr txBox="1"/>
          <p:nvPr/>
        </p:nvSpPr>
        <p:spPr>
          <a:xfrm>
            <a:off x="868680" y="2743200"/>
            <a:ext cx="5943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3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A:  </a:t>
            </a:r>
            <a:pPr indent="0" marL="0">
              <a:spcAft>
                <a:spcPts val="2600"/>
              </a:spcAft>
              <a:buNone/>
            </a:pPr>
            <a:r>
              <a:rPr lang="en-US" sz="3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do you do?</a:t>
            </a:r>
            <a:endParaRPr lang="en-US" sz="24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3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B:  </a:t>
            </a:r>
            <a:pPr indent="0" marL="0">
              <a:spcAft>
                <a:spcPts val="2600"/>
              </a:spcAft>
              <a:buNone/>
            </a:pPr>
            <a:r>
              <a:rPr lang="en-US" sz="3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work in a shop.</a:t>
            </a:r>
            <a:endParaRPr lang="en-US" sz="2400" dirty="0"/>
          </a:p>
        </p:txBody>
      </p:sp>
      <p:sp>
        <p:nvSpPr>
          <p:cNvPr id="11" name="Tarjeta consejo"/>
          <p:cNvSpPr/>
          <p:nvPr/>
        </p:nvSpPr>
        <p:spPr>
          <a:xfrm>
            <a:off x="7406640" y="1874520"/>
            <a:ext cx="4233672" cy="3657600"/>
          </a:xfrm>
          <a:prstGeom prst="roundRect">
            <a:avLst>
              <a:gd name="adj" fmla="val 3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2" name="Ícono pregunta" descr="Pregu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103120"/>
            <a:ext cx="640080" cy="640080"/>
          </a:xfrm>
          <a:prstGeom prst="rect">
            <a:avLst/>
          </a:prstGeom>
        </p:spPr>
      </p:pic>
      <p:sp>
        <p:nvSpPr>
          <p:cNvPr id="13" name="Consejo"/>
          <p:cNvSpPr txBox="1"/>
          <p:nvPr/>
        </p:nvSpPr>
        <p:spPr>
          <a:xfrm>
            <a:off x="7680960" y="292608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adivines ni digas solo “What?”.</a:t>
            </a:r>
            <a:endParaRPr lang="en-US" sz="2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Pide que la persona repita.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EXPRESIÓN 1: PEDIR QUE REPITAN</a:t>
            </a:r>
            <a:endParaRPr lang="en-US" sz="3600" dirty="0"/>
          </a:p>
        </p:txBody>
      </p:sp>
      <p:sp>
        <p:nvSpPr>
          <p:cNvPr id="7" name="Chip 1 fondo"/>
          <p:cNvSpPr/>
          <p:nvPr/>
        </p:nvSpPr>
        <p:spPr>
          <a:xfrm>
            <a:off x="548640" y="187452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Chip 1 frase"/>
          <p:cNvSpPr/>
          <p:nvPr/>
        </p:nvSpPr>
        <p:spPr>
          <a:xfrm>
            <a:off x="54864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Chip 1 texto frase"/>
          <p:cNvSpPr txBox="1"/>
          <p:nvPr/>
        </p:nvSpPr>
        <p:spPr>
          <a:xfrm>
            <a:off x="73152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Sorry,</a:t>
            </a:r>
            <a:endParaRPr lang="en-US" sz="2800" dirty="0"/>
          </a:p>
        </p:txBody>
      </p:sp>
      <p:sp>
        <p:nvSpPr>
          <p:cNvPr id="10" name="Chip 1 descripción"/>
          <p:cNvSpPr txBox="1"/>
          <p:nvPr/>
        </p:nvSpPr>
        <p:spPr>
          <a:xfrm>
            <a:off x="777240" y="2880360"/>
            <a:ext cx="3136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suaviza la interrupción</a:t>
            </a:r>
            <a:endParaRPr lang="en-US" sz="2400" dirty="0"/>
          </a:p>
        </p:txBody>
      </p:sp>
      <p:sp>
        <p:nvSpPr>
          <p:cNvPr id="11" name="Chip 2 fondo"/>
          <p:cNvSpPr/>
          <p:nvPr/>
        </p:nvSpPr>
        <p:spPr>
          <a:xfrm>
            <a:off x="4297680" y="187452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Chip 2 frase"/>
          <p:cNvSpPr/>
          <p:nvPr/>
        </p:nvSpPr>
        <p:spPr>
          <a:xfrm>
            <a:off x="429768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Chip 2 texto frase"/>
          <p:cNvSpPr txBox="1"/>
          <p:nvPr/>
        </p:nvSpPr>
        <p:spPr>
          <a:xfrm>
            <a:off x="448056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could you</a:t>
            </a:r>
            <a:endParaRPr lang="en-US" sz="2800" dirty="0"/>
          </a:p>
        </p:txBody>
      </p:sp>
      <p:sp>
        <p:nvSpPr>
          <p:cNvPr id="14" name="Chip 2 descripción"/>
          <p:cNvSpPr txBox="1"/>
          <p:nvPr/>
        </p:nvSpPr>
        <p:spPr>
          <a:xfrm>
            <a:off x="4526280" y="2880360"/>
            <a:ext cx="3136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hace la petición cortés</a:t>
            </a:r>
            <a:endParaRPr lang="en-US" sz="2400" dirty="0"/>
          </a:p>
        </p:txBody>
      </p:sp>
      <p:sp>
        <p:nvSpPr>
          <p:cNvPr id="15" name="Chip 3 fondo"/>
          <p:cNvSpPr/>
          <p:nvPr/>
        </p:nvSpPr>
        <p:spPr>
          <a:xfrm>
            <a:off x="8046720" y="1874520"/>
            <a:ext cx="3593592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Chip 3 frase"/>
          <p:cNvSpPr/>
          <p:nvPr/>
        </p:nvSpPr>
        <p:spPr>
          <a:xfrm>
            <a:off x="804672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Chip 3 texto frase"/>
          <p:cNvSpPr txBox="1"/>
          <p:nvPr/>
        </p:nvSpPr>
        <p:spPr>
          <a:xfrm>
            <a:off x="822960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say that again?</a:t>
            </a:r>
            <a:endParaRPr lang="en-US" sz="2800" dirty="0"/>
          </a:p>
        </p:txBody>
      </p:sp>
      <p:sp>
        <p:nvSpPr>
          <p:cNvPr id="18" name="Chip 3 descripción"/>
          <p:cNvSpPr txBox="1"/>
          <p:nvPr/>
        </p:nvSpPr>
        <p:spPr>
          <a:xfrm>
            <a:off x="8275320" y="2880360"/>
            <a:ext cx="3136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pide escuchar el mensaje otra vez</a:t>
            </a:r>
            <a:endParaRPr lang="en-US" sz="2400" dirty="0"/>
          </a:p>
        </p:txBody>
      </p:sp>
      <p:sp>
        <p:nvSpPr>
          <p:cNvPr id="19" name="Barra significado"/>
          <p:cNvSpPr/>
          <p:nvPr/>
        </p:nvSpPr>
        <p:spPr>
          <a:xfrm>
            <a:off x="548640" y="457200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Significado"/>
          <p:cNvSpPr txBox="1"/>
          <p:nvPr/>
        </p:nvSpPr>
        <p:spPr>
          <a:xfrm>
            <a:off x="868680" y="45720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Significa:  </a:t>
            </a:r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Perdón, ¿podrías repetir eso?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MODELADO EN ACCIÓN</a:t>
            </a:r>
            <a:endParaRPr lang="en-US" sz="3600" dirty="0"/>
          </a:p>
        </p:txBody>
      </p:sp>
      <p:sp>
        <p:nvSpPr>
          <p:cNvPr id="7" name="Tarjeta diálogo"/>
          <p:cNvSpPr/>
          <p:nvPr/>
        </p:nvSpPr>
        <p:spPr>
          <a:xfrm>
            <a:off x="548640" y="1874520"/>
            <a:ext cx="704088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Diálogo"/>
          <p:cNvSpPr txBox="1"/>
          <p:nvPr/>
        </p:nvSpPr>
        <p:spPr>
          <a:xfrm>
            <a:off x="868680" y="205740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do you do?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work in a shop.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Sorry, could you say that again?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Sure. I said, “I work in a shop.”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Oh, you work in a shop. Thanks.</a:t>
            </a:r>
            <a:endParaRPr lang="en-US" sz="2400" dirty="0"/>
          </a:p>
        </p:txBody>
      </p:sp>
      <p:sp>
        <p:nvSpPr>
          <p:cNvPr id="9" name="Tarjeta explicación"/>
          <p:cNvSpPr/>
          <p:nvPr/>
        </p:nvSpPr>
        <p:spPr>
          <a:xfrm>
            <a:off x="7863840" y="1874520"/>
            <a:ext cx="3776472" cy="3657600"/>
          </a:xfrm>
          <a:prstGeom prst="roundRect">
            <a:avLst>
              <a:gd name="adj" fmla="val 3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0" name="Ícono conversación" descr="Convers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2103120"/>
            <a:ext cx="640080" cy="640080"/>
          </a:xfrm>
          <a:prstGeom prst="rect">
            <a:avLst/>
          </a:prstGeom>
        </p:spPr>
      </p:pic>
      <p:sp>
        <p:nvSpPr>
          <p:cNvPr id="11" name="Explicación"/>
          <p:cNvSpPr txBox="1"/>
          <p:nvPr/>
        </p:nvSpPr>
        <p:spPr>
          <a:xfrm>
            <a:off x="8138160" y="292608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 repite el dato.</a:t>
            </a:r>
            <a:endParaRPr lang="en-US" sz="2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confirma que lo entendió.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EXPRESIÓN 2: LO QUE TE PASÓ</a:t>
            </a:r>
            <a:endParaRPr lang="en-US" sz="3600" dirty="0"/>
          </a:p>
        </p:txBody>
      </p:sp>
      <p:sp>
        <p:nvSpPr>
          <p:cNvPr id="7" name="Chip 1 fondo"/>
          <p:cNvSpPr/>
          <p:nvPr/>
        </p:nvSpPr>
        <p:spPr>
          <a:xfrm>
            <a:off x="548640" y="187452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Chip 1 frase"/>
          <p:cNvSpPr/>
          <p:nvPr/>
        </p:nvSpPr>
        <p:spPr>
          <a:xfrm>
            <a:off x="54864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Chip 1 texto frase"/>
          <p:cNvSpPr txBox="1"/>
          <p:nvPr/>
        </p:nvSpPr>
        <p:spPr>
          <a:xfrm>
            <a:off x="73152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Sorry,</a:t>
            </a:r>
            <a:endParaRPr lang="en-US" sz="2800" dirty="0"/>
          </a:p>
        </p:txBody>
      </p:sp>
      <p:sp>
        <p:nvSpPr>
          <p:cNvPr id="10" name="Chip 1 descripción"/>
          <p:cNvSpPr txBox="1"/>
          <p:nvPr/>
        </p:nvSpPr>
        <p:spPr>
          <a:xfrm>
            <a:off x="777240" y="28803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suaviza la interrupción</a:t>
            </a:r>
            <a:endParaRPr lang="en-US" sz="2400" dirty="0"/>
          </a:p>
        </p:txBody>
      </p:sp>
      <p:sp>
        <p:nvSpPr>
          <p:cNvPr id="11" name="Chip 2 fondo"/>
          <p:cNvSpPr/>
          <p:nvPr/>
        </p:nvSpPr>
        <p:spPr>
          <a:xfrm>
            <a:off x="4297680" y="187452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Chip 2 frase"/>
          <p:cNvSpPr/>
          <p:nvPr/>
        </p:nvSpPr>
        <p:spPr>
          <a:xfrm>
            <a:off x="429768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Chip 2 texto frase"/>
          <p:cNvSpPr txBox="1"/>
          <p:nvPr/>
        </p:nvSpPr>
        <p:spPr>
          <a:xfrm>
            <a:off x="448056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didn’t catch</a:t>
            </a:r>
            <a:endParaRPr lang="en-US" sz="2800" dirty="0"/>
          </a:p>
        </p:txBody>
      </p:sp>
      <p:sp>
        <p:nvSpPr>
          <p:cNvPr id="14" name="Chip 2 descripción"/>
          <p:cNvSpPr txBox="1"/>
          <p:nvPr/>
        </p:nvSpPr>
        <p:spPr>
          <a:xfrm>
            <a:off x="4526280" y="28803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explica lo que te pasó</a:t>
            </a:r>
            <a:endParaRPr lang="en-US" sz="2400" dirty="0"/>
          </a:p>
        </p:txBody>
      </p:sp>
      <p:sp>
        <p:nvSpPr>
          <p:cNvPr id="15" name="Chip 3 fondo"/>
          <p:cNvSpPr/>
          <p:nvPr/>
        </p:nvSpPr>
        <p:spPr>
          <a:xfrm>
            <a:off x="8046720" y="187452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Chip 3 frase"/>
          <p:cNvSpPr/>
          <p:nvPr/>
        </p:nvSpPr>
        <p:spPr>
          <a:xfrm>
            <a:off x="8046720" y="1874520"/>
            <a:ext cx="359359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Chip 3 texto frase"/>
          <p:cNvSpPr txBox="1"/>
          <p:nvPr/>
        </p:nvSpPr>
        <p:spPr>
          <a:xfrm>
            <a:off x="8229600" y="1874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that.</a:t>
            </a:r>
            <a:endParaRPr lang="en-US" sz="2800" dirty="0"/>
          </a:p>
        </p:txBody>
      </p:sp>
      <p:sp>
        <p:nvSpPr>
          <p:cNvPr id="18" name="Chip 3 descripción"/>
          <p:cNvSpPr txBox="1"/>
          <p:nvPr/>
        </p:nvSpPr>
        <p:spPr>
          <a:xfrm>
            <a:off x="8275320" y="28803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 refiere a lo que dijeron</a:t>
            </a:r>
            <a:endParaRPr lang="en-US" sz="2400" dirty="0"/>
          </a:p>
        </p:txBody>
      </p:sp>
      <p:sp>
        <p:nvSpPr>
          <p:cNvPr id="19" name="Barra significado y tip"/>
          <p:cNvSpPr/>
          <p:nvPr/>
        </p:nvSpPr>
        <p:spPr>
          <a:xfrm>
            <a:off x="548640" y="438912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Significado"/>
          <p:cNvSpPr txBox="1"/>
          <p:nvPr/>
        </p:nvSpPr>
        <p:spPr>
          <a:xfrm>
            <a:off x="868680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Significa:  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Perdón, no alcancé a escuchar eso.</a:t>
            </a:r>
            <a:endParaRPr lang="en-US" sz="2800" dirty="0"/>
          </a:p>
        </p:txBody>
      </p:sp>
      <p:sp>
        <p:nvSpPr>
          <p:cNvPr id="21" name="Tip Mercedes"/>
          <p:cNvSpPr txBox="1"/>
          <p:nvPr/>
        </p:nvSpPr>
        <p:spPr>
          <a:xfrm>
            <a:off x="868680" y="49834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Tip Mercedes:  </a:t>
            </a:r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“catch” significa alcanzar a escuchar.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OTRO EJEMPLO: ¿DÓNDE VIVES?</a:t>
            </a:r>
            <a:endParaRPr lang="en-US" sz="3600" dirty="0"/>
          </a:p>
        </p:txBody>
      </p:sp>
      <p:sp>
        <p:nvSpPr>
          <p:cNvPr id="7" name="Tarjeta diálogo"/>
          <p:cNvSpPr/>
          <p:nvPr/>
        </p:nvSpPr>
        <p:spPr>
          <a:xfrm>
            <a:off x="548640" y="1874520"/>
            <a:ext cx="704088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Diálogo"/>
          <p:cNvSpPr txBox="1"/>
          <p:nvPr/>
        </p:nvSpPr>
        <p:spPr>
          <a:xfrm>
            <a:off x="868680" y="205740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Where do you live?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live in Houston.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Sorry, I didn’t catch that.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problem. I said, “I live in Houston.”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A:  </a:t>
            </a:r>
            <a:pPr indent="0" marL="0">
              <a:spcAft>
                <a:spcPts val="600"/>
              </a:spcAft>
              <a:buNone/>
            </a:pPr>
            <a:r>
              <a:rPr lang="en-US" sz="2400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Oh, you live in Houston. Nice.</a:t>
            </a:r>
            <a:endParaRPr lang="en-US" sz="2400" dirty="0"/>
          </a:p>
        </p:txBody>
      </p:sp>
      <p:sp>
        <p:nvSpPr>
          <p:cNvPr id="9" name="Tarjeta explicación"/>
          <p:cNvSpPr/>
          <p:nvPr/>
        </p:nvSpPr>
        <p:spPr>
          <a:xfrm>
            <a:off x="7863840" y="1874520"/>
            <a:ext cx="3776472" cy="3657600"/>
          </a:xfrm>
          <a:prstGeom prst="roundRect">
            <a:avLst>
              <a:gd name="adj" fmla="val 3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0" name="Ícono conversación" descr="Convers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2103120"/>
            <a:ext cx="640080" cy="640080"/>
          </a:xfrm>
          <a:prstGeom prst="rect">
            <a:avLst/>
          </a:prstGeom>
        </p:spPr>
      </p:pic>
      <p:sp>
        <p:nvSpPr>
          <p:cNvPr id="11" name="Explicación"/>
          <p:cNvSpPr txBox="1"/>
          <p:nvPr/>
        </p:nvSpPr>
        <p:spPr>
          <a:xfrm>
            <a:off x="8138160" y="292608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no escuchó la ciudad.</a:t>
            </a:r>
            <a:endParaRPr lang="en-US" sz="2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 repite y A confirma.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PRÁCTICA GUIADA: TE TOCA</a:t>
            </a:r>
            <a:endParaRPr lang="en-US" sz="3600" dirty="0"/>
          </a:p>
        </p:txBody>
      </p:sp>
      <p:sp>
        <p:nvSpPr>
          <p:cNvPr id="7" name="Tarjeta escucha"/>
          <p:cNvSpPr/>
          <p:nvPr/>
        </p:nvSpPr>
        <p:spPr>
          <a:xfrm>
            <a:off x="548640" y="1874520"/>
            <a:ext cx="786384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8" name="Ícono audio" descr="Altavo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23160"/>
            <a:ext cx="640080" cy="640080"/>
          </a:xfrm>
          <a:prstGeom prst="rect">
            <a:avLst/>
          </a:prstGeom>
        </p:spPr>
      </p:pic>
      <p:sp>
        <p:nvSpPr>
          <p:cNvPr id="9" name="Escucha"/>
          <p:cNvSpPr txBox="1"/>
          <p:nvPr/>
        </p:nvSpPr>
        <p:spPr>
          <a:xfrm>
            <a:off x="1783080" y="18745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Escucha la frase.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Piensa durante 5 segundos.</a:t>
            </a:r>
            <a:endParaRPr lang="en-US" sz="2800" dirty="0"/>
          </a:p>
        </p:txBody>
      </p:sp>
      <p:sp>
        <p:nvSpPr>
          <p:cNvPr id="10" name="Tarjeta pregunta"/>
          <p:cNvSpPr/>
          <p:nvPr/>
        </p:nvSpPr>
        <p:spPr>
          <a:xfrm>
            <a:off x="548640" y="3840480"/>
            <a:ext cx="78638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1" name="Ícono pregunta" descr="Pregu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361688"/>
            <a:ext cx="640080" cy="640080"/>
          </a:xfrm>
          <a:prstGeom prst="rect">
            <a:avLst/>
          </a:prstGeom>
        </p:spPr>
      </p:pic>
      <p:sp>
        <p:nvSpPr>
          <p:cNvPr id="12" name="Pregunta"/>
          <p:cNvSpPr txBox="1"/>
          <p:nvPr/>
        </p:nvSpPr>
        <p:spPr>
          <a:xfrm>
            <a:off x="1783080" y="3840480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¿Qué puedes decir si no escuchaste bien?</a:t>
            </a:r>
            <a:endParaRPr lang="en-US" sz="3000" dirty="0"/>
          </a:p>
        </p:txBody>
      </p:sp>
      <p:sp>
        <p:nvSpPr>
          <p:cNvPr id="13" name="Marco avatar"/>
          <p:cNvSpPr/>
          <p:nvPr/>
        </p:nvSpPr>
        <p:spPr>
          <a:xfrm>
            <a:off x="8686800" y="1874520"/>
            <a:ext cx="2963647" cy="3657600"/>
          </a:xfrm>
          <a:prstGeom prst="roundRect">
            <a:avLst>
              <a:gd name="adj" fmla="val 370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Avatar Mercedes" descr="Mercedes, profesora de MMercedesEngli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965960"/>
            <a:ext cx="2780767" cy="3474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PRÁCTICA GUIADA: RESPUESTAS</a:t>
            </a:r>
            <a:endParaRPr lang="en-US" sz="3600" dirty="0"/>
          </a:p>
        </p:txBody>
      </p:sp>
      <p:sp>
        <p:nvSpPr>
          <p:cNvPr id="7" name="Opción 1"/>
          <p:cNvSpPr/>
          <p:nvPr/>
        </p:nvSpPr>
        <p:spPr>
          <a:xfrm>
            <a:off x="548640" y="187452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Etiqueta opción 1"/>
          <p:cNvSpPr txBox="1"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Puedes decir:</a:t>
            </a:r>
            <a:endParaRPr lang="en-US" sz="2400" dirty="0"/>
          </a:p>
        </p:txBody>
      </p:sp>
      <p:sp>
        <p:nvSpPr>
          <p:cNvPr id="9" name="Frase opción 1"/>
          <p:cNvSpPr txBox="1"/>
          <p:nvPr/>
        </p:nvSpPr>
        <p:spPr>
          <a:xfrm>
            <a:off x="868680" y="2423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Sorry, could you say that again?</a:t>
            </a:r>
            <a:endParaRPr lang="en-US" sz="2800" dirty="0"/>
          </a:p>
        </p:txBody>
      </p:sp>
      <p:sp>
        <p:nvSpPr>
          <p:cNvPr id="10" name="Opción 2"/>
          <p:cNvSpPr/>
          <p:nvPr/>
        </p:nvSpPr>
        <p:spPr>
          <a:xfrm>
            <a:off x="6199632" y="187452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Etiqueta opción 2"/>
          <p:cNvSpPr txBox="1"/>
          <p:nvPr/>
        </p:nvSpPr>
        <p:spPr>
          <a:xfrm>
            <a:off x="6519672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 también:</a:t>
            </a:r>
            <a:endParaRPr lang="en-US" sz="2400" dirty="0"/>
          </a:p>
        </p:txBody>
      </p:sp>
      <p:sp>
        <p:nvSpPr>
          <p:cNvPr id="12" name="Frase opción 2"/>
          <p:cNvSpPr txBox="1"/>
          <p:nvPr/>
        </p:nvSpPr>
        <p:spPr>
          <a:xfrm>
            <a:off x="6519672" y="2423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Sorry, I didn’t catch that.</a:t>
            </a:r>
            <a:endParaRPr lang="en-US" sz="2800" dirty="0"/>
          </a:p>
        </p:txBody>
      </p:sp>
      <p:sp>
        <p:nvSpPr>
          <p:cNvPr id="13" name="Respuesta"/>
          <p:cNvSpPr/>
          <p:nvPr/>
        </p:nvSpPr>
        <p:spPr>
          <a:xfrm>
            <a:off x="548640" y="3840480"/>
            <a:ext cx="11091672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4" name="Ícono check" descr="Corre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361688"/>
            <a:ext cx="640080" cy="640080"/>
          </a:xfrm>
          <a:prstGeom prst="rect">
            <a:avLst/>
          </a:prstGeom>
        </p:spPr>
      </p:pic>
      <p:sp>
        <p:nvSpPr>
          <p:cNvPr id="15" name="Frase respuesta"/>
          <p:cNvSpPr txBox="1"/>
          <p:nvPr/>
        </p:nvSpPr>
        <p:spPr>
          <a:xfrm>
            <a:off x="1783080" y="3840480"/>
            <a:ext cx="9509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 respuesta puede ser: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Sure. I said, “I’m from Colombia, and I live in Miami.”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COMPROBACIÓN: ÚLTIMO INTENTO</a:t>
            </a:r>
            <a:endParaRPr lang="en-US" sz="3600" dirty="0"/>
          </a:p>
        </p:txBody>
      </p:sp>
      <p:sp>
        <p:nvSpPr>
          <p:cNvPr id="7" name="Tarjeta escucha"/>
          <p:cNvSpPr/>
          <p:nvPr/>
        </p:nvSpPr>
        <p:spPr>
          <a:xfrm>
            <a:off x="548640" y="1874520"/>
            <a:ext cx="5440680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8" name="Ícono audio" descr="Altavo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640080" cy="640080"/>
          </a:xfrm>
          <a:prstGeom prst="rect">
            <a:avLst/>
          </a:prstGeom>
        </p:spPr>
      </p:pic>
      <p:sp>
        <p:nvSpPr>
          <p:cNvPr id="9" name="Escucha"/>
          <p:cNvSpPr txBox="1"/>
          <p:nvPr/>
        </p:nvSpPr>
        <p:spPr>
          <a:xfrm>
            <a:off x="868680" y="28346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Escucha la frase.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Espera 5 segundos.</a:t>
            </a:r>
            <a:endParaRPr lang="en-US" sz="2800" dirty="0"/>
          </a:p>
        </p:txBody>
      </p:sp>
      <p:sp>
        <p:nvSpPr>
          <p:cNvPr id="10" name="Tarjeta pedir repetición"/>
          <p:cNvSpPr/>
          <p:nvPr/>
        </p:nvSpPr>
        <p:spPr>
          <a:xfrm>
            <a:off x="6199632" y="1874520"/>
            <a:ext cx="544068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1" name="Ícono pregunta" descr="Pregu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03120"/>
            <a:ext cx="640080" cy="640080"/>
          </a:xfrm>
          <a:prstGeom prst="rect">
            <a:avLst/>
          </a:prstGeom>
        </p:spPr>
      </p:pic>
      <p:sp>
        <p:nvSpPr>
          <p:cNvPr id="12" name="Pedir repetición"/>
          <p:cNvSpPr txBox="1"/>
          <p:nvPr/>
        </p:nvSpPr>
        <p:spPr>
          <a:xfrm>
            <a:off x="6519672" y="28346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Pide que lo repitan con la expresión que prefieras.</a:t>
            </a:r>
            <a:endParaRPr lang="en-US" sz="2800" dirty="0"/>
          </a:p>
        </p:txBody>
      </p:sp>
      <p:sp>
        <p:nvSpPr>
          <p:cNvPr id="13" name="Barra pregunta"/>
          <p:cNvSpPr/>
          <p:nvPr/>
        </p:nvSpPr>
        <p:spPr>
          <a:xfrm>
            <a:off x="548640" y="448056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Pregunta"/>
          <p:cNvSpPr txBox="1"/>
          <p:nvPr/>
        </p:nvSpPr>
        <p:spPr>
          <a:xfrm>
            <a:off x="868680" y="44805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Escucha otra vez y responde: ¿qué le gusta hacer?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6"/>
          <p:cNvSpPr/>
          <p:nvPr>
            <p:ph idx="106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COMPROBACIÓN: RESPUESTA</a:t>
            </a:r>
            <a:endParaRPr lang="en-US" sz="3600" dirty="0"/>
          </a:p>
        </p:txBody>
      </p:sp>
      <p:sp>
        <p:nvSpPr>
          <p:cNvPr id="7" name="Tarjeta dato"/>
          <p:cNvSpPr/>
          <p:nvPr/>
        </p:nvSpPr>
        <p:spPr>
          <a:xfrm>
            <a:off x="548640" y="1874520"/>
            <a:ext cx="5440680" cy="3657600"/>
          </a:xfrm>
          <a:prstGeom prst="roundRect">
            <a:avLst>
              <a:gd name="adj" fmla="val 3000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8" name="Ícono hiking" descr="Camin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731520" cy="731520"/>
          </a:xfrm>
          <a:prstGeom prst="rect">
            <a:avLst/>
          </a:prstGeom>
        </p:spPr>
      </p:pic>
      <p:sp>
        <p:nvSpPr>
          <p:cNvPr id="9" name="Dato"/>
          <p:cNvSpPr txBox="1"/>
          <p:nvPr/>
        </p:nvSpPr>
        <p:spPr>
          <a:xfrm>
            <a:off x="868680" y="31089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hiking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= hacer caminatas</a:t>
            </a:r>
            <a:endParaRPr lang="en-US" sz="2400" dirty="0"/>
          </a:p>
        </p:txBody>
      </p:sp>
      <p:sp>
        <p:nvSpPr>
          <p:cNvPr id="10" name="Tarjeta respuesta"/>
          <p:cNvSpPr/>
          <p:nvPr/>
        </p:nvSpPr>
        <p:spPr>
          <a:xfrm>
            <a:off x="6199632" y="1874520"/>
            <a:ext cx="544068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1" name="Ícono check" descr="Correc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48840"/>
            <a:ext cx="731520" cy="731520"/>
          </a:xfrm>
          <a:prstGeom prst="rect">
            <a:avLst/>
          </a:prstGeom>
        </p:spPr>
      </p:pic>
      <p:sp>
        <p:nvSpPr>
          <p:cNvPr id="12" name="Respuesta"/>
          <p:cNvSpPr txBox="1"/>
          <p:nvPr/>
        </p:nvSpPr>
        <p:spPr>
          <a:xfrm>
            <a:off x="6519672" y="31089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Para completar la interacción: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30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Oh, you like hiking. That sounds fun.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M fondo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Logo MM"/>
          <p:cNvSpPr txBox="1"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4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pastilla nivel"/>
          <p:cNvSpPr txBox="1"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6" name="Text 3"/>
          <p:cNvSpPr/>
          <p:nvPr>
            <p:ph idx="103" type="title" hasCustomPrompt="1"/>
          </p:nvPr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DOS FORMAS CORTESES</a:t>
            </a:r>
            <a:endParaRPr lang="en-US" sz="3600" dirty="0"/>
          </a:p>
        </p:txBody>
      </p:sp>
      <p:sp>
        <p:nvSpPr>
          <p:cNvPr id="7" name="Expresiones"/>
          <p:cNvSpPr/>
          <p:nvPr/>
        </p:nvSpPr>
        <p:spPr>
          <a:xfrm>
            <a:off x="548640" y="1874520"/>
            <a:ext cx="78638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Frases"/>
          <p:cNvSpPr txBox="1"/>
          <p:nvPr/>
        </p:nvSpPr>
        <p:spPr>
          <a:xfrm>
            <a:off x="868680" y="1874520"/>
            <a:ext cx="7223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Sorry, could you say that again?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i="1" dirty="0">
                <a:solidFill>
                  <a:schemeClr val="tx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Sorry, I didn’t catch that.</a:t>
            </a:r>
            <a:endParaRPr lang="en-US" sz="2800" dirty="0"/>
          </a:p>
        </p:txBody>
      </p:sp>
      <p:sp>
        <p:nvSpPr>
          <p:cNvPr id="9" name="Dos pasos"/>
          <p:cNvSpPr/>
          <p:nvPr/>
        </p:nvSpPr>
        <p:spPr>
          <a:xfrm>
            <a:off x="548640" y="3657600"/>
            <a:ext cx="7863840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Paso 1"/>
          <p:cNvSpPr txBox="1"/>
          <p:nvPr/>
        </p:nvSpPr>
        <p:spPr>
          <a:xfrm>
            <a:off x="868680" y="3657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1. Pide que repitan</a:t>
            </a:r>
            <a:endParaRPr lang="en-US" sz="2400" dirty="0"/>
          </a:p>
        </p:txBody>
      </p:sp>
      <p:sp>
        <p:nvSpPr>
          <p:cNvPr id="11" name="Paso 2"/>
          <p:cNvSpPr txBox="1"/>
          <p:nvPr/>
        </p:nvSpPr>
        <p:spPr>
          <a:xfrm>
            <a:off x="4572000" y="3657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2. Responde al dato</a:t>
            </a:r>
            <a:endParaRPr lang="en-US" sz="2400" dirty="0"/>
          </a:p>
        </p:txBody>
      </p:sp>
      <p:sp>
        <p:nvSpPr>
          <p:cNvPr id="12" name="Pregunta de salida"/>
          <p:cNvSpPr/>
          <p:nvPr/>
        </p:nvSpPr>
        <p:spPr>
          <a:xfrm>
            <a:off x="548640" y="4709160"/>
            <a:ext cx="7863840" cy="160020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Pregunta"/>
          <p:cNvSpPr txBox="1"/>
          <p:nvPr/>
        </p:nvSpPr>
        <p:spPr>
          <a:xfrm>
            <a:off x="868680" y="4709160"/>
            <a:ext cx="7223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Pregunta de salida: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¿Cómo pedirías que repitan si no escuchas “I’m a nurse”?</a:t>
            </a:r>
            <a:endParaRPr lang="en-US" sz="2400" dirty="0"/>
          </a:p>
        </p:txBody>
      </p:sp>
      <p:sp>
        <p:nvSpPr>
          <p:cNvPr id="14" name="Marco avatar"/>
          <p:cNvSpPr/>
          <p:nvPr/>
        </p:nvSpPr>
        <p:spPr>
          <a:xfrm>
            <a:off x="8686800" y="1874520"/>
            <a:ext cx="2963647" cy="3657600"/>
          </a:xfrm>
          <a:prstGeom prst="roundRect">
            <a:avLst>
              <a:gd name="adj" fmla="val 370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Avatar Mercedes" descr="Mercedes, profesora de MMercedesEngl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965960"/>
            <a:ext cx="2780767" cy="3474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858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MercedesEnglish">
  <a:themeElements>
    <a:clrScheme name="MMercedesEnglish">
      <a:dk1>
        <a:srgbClr val="0D1B3E"/>
      </a:dk1>
      <a:lt1>
        <a:srgbClr val="FFFFFF"/>
      </a:lt1>
      <a:dk2>
        <a:srgbClr val="BE9100"/>
      </a:dk2>
      <a:lt2>
        <a:srgbClr val="FFFBF0"/>
      </a:lt2>
      <a:accent1>
        <a:srgbClr val="FFD23F"/>
      </a:accent1>
      <a:accent2>
        <a:srgbClr val="0D1B3E"/>
      </a:accent2>
      <a:accent3>
        <a:srgbClr val="BE9100"/>
      </a:accent3>
      <a:accent4>
        <a:srgbClr val="FFFBF0"/>
      </a:accent4>
      <a:accent5>
        <a:srgbClr val="FFFFFF"/>
      </a:accent5>
      <a:accent6>
        <a:srgbClr val="FFD23F"/>
      </a:accent6>
      <a:hlink>
        <a:srgbClr val="0D1B3E"/>
      </a:hlink>
      <a:folHlink>
        <a:srgbClr val="BE9100"/>
      </a:folHlink>
    </a:clrScheme>
    <a:fontScheme name="MMercedesEnglish">
      <a:majorFont>
        <a:latin typeface="Big Shoulder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Work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Microclase: Sorry, could you say that again?</dc:title>
  <dc:subject>PptxGenJS Presentation</dc:subject>
  <dc:creator>MMercedesEnglish</dc:creator>
  <cp:lastModifiedBy>MMercedesEnglish</cp:lastModifiedBy>
  <cp:revision>1</cp:revision>
  <dcterms:created xsi:type="dcterms:W3CDTF">2026-10-06T03:45:36Z</dcterms:created>
  <dcterms:modified xsi:type="dcterms:W3CDTF">2026-10-06T03:45:36Z</dcterms:modified>
</cp:coreProperties>
</file>