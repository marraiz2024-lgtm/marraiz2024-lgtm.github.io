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23f3ad37-e456-c402-e241-b7ececc8c39e}">
          <p14:sldIdLst>
            <p14:sldId id="256"/>
          </p14:sldIdLst>
        </p14:section>
        <p14:section name="Contraste" id="{86a51131-989b-8c2e-f71c-262f2c0b93dc}">
          <p14:sldIdLst>
            <p14:sldId id="257"/>
          </p14:sldIdLst>
        </p14:section>
        <p14:section name="Expresión" id="{05d496d2-3b08-2604-5e53-e0a0450adc4a}">
          <p14:sldIdLst>
            <p14:sldId id="258"/>
          </p14:sldIdLst>
        </p14:section>
        <p14:section name="Modelado" id="{4946ee4e-e278-8704-bc5f-5bbfbaa1d178}">
          <p14:sldIdLst>
            <p14:sldId id="259"/>
          </p14:sldIdLst>
        </p14:section>
        <p14:section name="Práctica en eco" id="{ae4733e8-ca1f-e7bd-fe97-6b687f2781dd}">
          <p14:sldIdLst>
            <p14:sldId id="260"/>
          </p14:sldIdLst>
        </p14:section>
        <p14:section name="Roleplay" id="{82989fa3-e5d6-ab7d-e625-dc902d230730}">
          <p14:sldIdLst>
            <p14:sldId id="261"/>
            <p14:sldId id="262"/>
          </p14:sldIdLst>
        </p14:section>
        <p14:section name="Comprobación" id="{a3ba935d-25bc-1a7f-6be3-cab6eab0827f}">
          <p14:sldIdLst>
            <p14:sldId id="263"/>
            <p14:sldId id="264"/>
          </p14:sldIdLst>
        </p14:section>
        <p14:section name="Cierre" id="{dadff973-36ee-8ea3-5b56-d2f5968b0cc2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 a 0:25] APERTURA
Hola. Imagina que estás en un restaurante en Estados Unidos y quieres pedir un café. ¿Cómo lo pedirías en inglés? (Pausa de 3 segundos. En clase en vivo, pide que lo escriban en el chat.) Es muy común pensar en “I want a coffee”. Hoy aprendes una forma más cortés con un solo patrón: “I’d like”.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 a 1:00] CONTRASTE
Escucha las dos formas. (Lee cada frase despacio y con volumen normal.) “I want a coffee.” Se entiende, pero suena a orden. “I’d like a coffee.” Suena amable y natural. En un restaurante, cambia “I want” por “I’d like”.
(Opcional en clase en vivo: muestra un video corto de un pedido real en un café y pide que detecten la frase.)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 a 1:50] EXPRESIÓN
El patrón es “I’d like” más lo que quieres pedir. Di: “I’d like a coffee, please.” Significa: “Me gustaría un café, por favor.”
“I’d like” es la forma corta de “I would like”. Señala cada segmento en pantalla: “I’d like” es me gustaría; “a coffee” es lo que pides; “please” cierra con cortesía.
Pronunciación: “I’d” suena como “aid”. Di “aid like”, sin separar las dos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[1:50 a 2:40] MODELADO
Waiter: Hi! What would you like? You: I’d like a coffee, please. Waiter: Sure. Anything else? You: Yes, I’d like a sandwich, too. Waiter: Of course.
Fíjate: el mesero pregunta “What would you like?” y tú respondes con la misma estructura, “I’d like”. Usa una voz distinta para el mesero y para 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[2:40 a 3:30] PRÁCTICA EN ECO
Ahora repite después de mí, en voz alta. Di cada frase con volumen normal y claro, haz una pausa de 4 segundos para que repitan y pasa a la siguiente.
1. “I’d like a coffee, please.” (Pausa de 4 segundos.)
2. “I’d like a tea, please.” (Pausa de 4 segundos.)
3. “I’d like a chicken sandwich, please.” (Pausa de 4 segundos.)
Cuida el sonido “aid like” y el “please”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[3:30 a 4:10] ROLEPLAY
Ahora tú eres el cliente. Escucha al mesero: “Hi! What would you like?” (Pausa de 6 segundos. Que pidan algo del menú con “I’d like”.) Después: “Anything else?” (Pausa de 6 segundos. Que pidan algo más con “I’d like… too”.)
Audio normal y claro, para que puedan hacer el ejercicio.
En clase en vivo: este es el momento del roleplay cliente/mesero en parejas, en salas de Meet. Avanza al siguiente slide solo después de las pausas.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[4:10 a 4:30] RESPUESTAS DEL ROLEPLAY
Muy bien. Así puede sonar: “I’d like a salad, please.” Y después: “Yes, I’d like an orange juice, too.” Puedes elegir otro plato del menú; la estructura es la misma.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[4:30 a 5:00] COMPROBACIÓN
Último intento, en dos partes. Primera: dime “I want a hamburger” de una forma más cortés. (Pausa de 5 segundos.) Segunda: escucha al mesero, “Are you ready to order?”, y responde pidiendo algo. (Pausa de 5 segundos.)
Audio normal y claro. Avanza al siguiente slide solo después de las pausas.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 a 5:20] RESPUESTAS
Primera parte: “I’d like a hamburger, please.” Segunda parte, una respuesta posible: “Yes. I’d like a pizza, please.” Puedes pedir cualquier otro plato con la misma estructura.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[5:20 a 6:00] CIERRE
Hoy aprendiste a pedir con cortesía en un restaurante: cambia “I want” por “I’d like”. Recuerda la frase completa: “I’d like a coffee, please.”
Tu práctica: graba un audio de 15 segundos pidiendo algo con “I’d like…” y envíalo al grupo de WhatsApp. Yo te doy retroalimentación. Hasta la próxima.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M_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 |  Beginner  |  Módulo 2  |  Ordering politely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8704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MY NOTES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83080" y="6144768"/>
            <a:ext cx="98755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548640" y="6400800"/>
            <a:ext cx="1110996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</a:ln>
        </p:spPr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Título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M_OPEN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 |  Beginner  |  Módulo 2  |  Ordering politely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Título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M_COV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 |  Beginner  |  Módulo 2  |  Ordering politely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Pastilla microclase"/>
          <p:cNvSpPr/>
          <p:nvPr/>
        </p:nvSpPr>
        <p:spPr>
          <a:xfrm>
            <a:off x="548640" y="1188720"/>
            <a:ext cx="23774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o pastilla"/>
          <p:cNvSpPr txBox="1"/>
          <p:nvPr/>
        </p:nvSpPr>
        <p:spPr>
          <a:xfrm>
            <a:off x="54864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Microclase · 6 min</a:t>
            </a:r>
            <a:endParaRPr lang="en-US" sz="1600" dirty="0"/>
          </a:p>
        </p:txBody>
      </p:sp>
      <p:sp>
        <p:nvSpPr>
          <p:cNvPr id="8" name="Título portada"/>
          <p:cNvSpPr txBox="1"/>
          <p:nvPr/>
        </p:nvSpPr>
        <p:spPr>
          <a:xfrm>
            <a:off x="548640" y="173736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I’D LIKE…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EN LUGAR DE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I WANT…</a:t>
            </a:r>
            <a:endParaRPr lang="en-US" sz="4800" dirty="0"/>
          </a:p>
        </p:txBody>
      </p:sp>
      <p:sp>
        <p:nvSpPr>
          <p:cNvPr id="9" name="Subtítulo portada"/>
          <p:cNvSpPr txBox="1"/>
          <p:nvPr/>
        </p:nvSpPr>
        <p:spPr>
          <a:xfrm>
            <a:off x="548640" y="41148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Pide con cortesía en un restaurante.</a:t>
            </a:r>
            <a:endParaRPr lang="en-US" sz="2800" dirty="0"/>
          </a:p>
        </p:txBody>
      </p:sp>
      <p:sp>
        <p:nvSpPr>
          <p:cNvPr id="10" name="Pregunta inicial"/>
          <p:cNvSpPr txBox="1"/>
          <p:nvPr/>
        </p:nvSpPr>
        <p:spPr>
          <a:xfrm>
            <a:off x="548640" y="47548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¿Cómo pedirías un café en inglés?</a:t>
            </a:r>
            <a:endParaRPr lang="en-US" sz="2600" dirty="0"/>
          </a:p>
        </p:txBody>
      </p:sp>
      <p:sp>
        <p:nvSpPr>
          <p:cNvPr id="11" name="Lema"/>
          <p:cNvSpPr/>
          <p:nvPr/>
        </p:nvSpPr>
        <p:spPr>
          <a:xfrm>
            <a:off x="548640" y="5577840"/>
            <a:ext cx="384048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Texto lema"/>
          <p:cNvSpPr txBox="1"/>
          <p:nvPr/>
        </p:nvSpPr>
        <p:spPr>
          <a:xfrm>
            <a:off x="548640" y="5577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800" dirty="0"/>
          </a:p>
        </p:txBody>
      </p:sp>
      <p:sp>
        <p:nvSpPr>
          <p:cNvPr id="13" name="Marco avatar"/>
          <p:cNvSpPr/>
          <p:nvPr/>
        </p:nvSpPr>
        <p:spPr>
          <a:xfrm>
            <a:off x="8351215" y="1051560"/>
            <a:ext cx="3291840" cy="484632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Avatar Mercedes" descr="Mercedes, profesora de MMercedesEngl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3108960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DOS FORMAS DE PEDIR UN CAFÉ</a:t>
            </a:r>
            <a:endParaRPr lang="en-US" sz="3600" dirty="0"/>
          </a:p>
        </p:txBody>
      </p:sp>
      <p:sp>
        <p:nvSpPr>
          <p:cNvPr id="7" name="Tarjeta I want"/>
          <p:cNvSpPr/>
          <p:nvPr/>
        </p:nvSpPr>
        <p:spPr>
          <a:xfrm>
            <a:off x="548640" y="1874520"/>
            <a:ext cx="544068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Etiqueta I want"/>
          <p:cNvSpPr txBox="1"/>
          <p:nvPr/>
        </p:nvSpPr>
        <p:spPr>
          <a:xfrm>
            <a:off x="86868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Directa</a:t>
            </a:r>
            <a:endParaRPr lang="en-US" sz="2400" dirty="0"/>
          </a:p>
        </p:txBody>
      </p:sp>
      <p:sp>
        <p:nvSpPr>
          <p:cNvPr id="9" name="Frase I want"/>
          <p:cNvSpPr txBox="1"/>
          <p:nvPr/>
        </p:nvSpPr>
        <p:spPr>
          <a:xfrm>
            <a:off x="868680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want a coffee.</a:t>
            </a:r>
            <a:endParaRPr lang="en-US" sz="3400" dirty="0"/>
          </a:p>
        </p:txBody>
      </p:sp>
      <p:sp>
        <p:nvSpPr>
          <p:cNvPr id="10" name="Nota I want"/>
          <p:cNvSpPr txBox="1"/>
          <p:nvPr/>
        </p:nvSpPr>
        <p:spPr>
          <a:xfrm>
            <a:off x="868680" y="3429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 entiende, pero suena a orden.</a:t>
            </a:r>
            <a:endParaRPr lang="en-US" sz="2400" dirty="0"/>
          </a:p>
        </p:txBody>
      </p:sp>
      <p:sp>
        <p:nvSpPr>
          <p:cNvPr id="11" name="Tarjeta I'd like"/>
          <p:cNvSpPr/>
          <p:nvPr/>
        </p:nvSpPr>
        <p:spPr>
          <a:xfrm>
            <a:off x="6199632" y="1874520"/>
            <a:ext cx="5440680" cy="237744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Etiqueta I&amp;apos;d like"/>
          <p:cNvSpPr txBox="1"/>
          <p:nvPr/>
        </p:nvSpPr>
        <p:spPr>
          <a:xfrm>
            <a:off x="6519672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Cortés</a:t>
            </a:r>
            <a:endParaRPr lang="en-US" sz="2400" dirty="0"/>
          </a:p>
        </p:txBody>
      </p:sp>
      <p:sp>
        <p:nvSpPr>
          <p:cNvPr id="13" name="Frase I&amp;apos;d like"/>
          <p:cNvSpPr txBox="1"/>
          <p:nvPr/>
        </p:nvSpPr>
        <p:spPr>
          <a:xfrm>
            <a:off x="6519672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I’d like a coffee.</a:t>
            </a:r>
            <a:endParaRPr lang="en-US" sz="3400" dirty="0"/>
          </a:p>
        </p:txBody>
      </p:sp>
      <p:sp>
        <p:nvSpPr>
          <p:cNvPr id="14" name="Nota I&amp;apos;d like"/>
          <p:cNvSpPr txBox="1"/>
          <p:nvPr/>
        </p:nvSpPr>
        <p:spPr>
          <a:xfrm>
            <a:off x="6519672" y="3429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Suena amable y natural.</a:t>
            </a:r>
            <a:endParaRPr lang="en-US" sz="2400" dirty="0"/>
          </a:p>
        </p:txBody>
      </p:sp>
      <p:sp>
        <p:nvSpPr>
          <p:cNvPr id="15" name="Barra regla"/>
          <p:cNvSpPr/>
          <p:nvPr/>
        </p:nvSpPr>
        <p:spPr>
          <a:xfrm>
            <a:off x="548640" y="448056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6" name="Regla"/>
          <p:cNvSpPr txBox="1"/>
          <p:nvPr/>
        </p:nvSpPr>
        <p:spPr>
          <a:xfrm>
            <a:off x="868680" y="44805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 un restaurante, cambia  </a:t>
            </a:r>
            <a:pPr indent="0" marL="0">
              <a:buNone/>
            </a:pPr>
            <a:r>
              <a:rPr lang="en-US" sz="3000" b="1" i="1" dirty="0">
                <a:solidFill>
                  <a:schemeClr val="accent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want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 por  </a:t>
            </a:r>
            <a:pPr indent="0" marL="0">
              <a:buNone/>
            </a:pPr>
            <a:r>
              <a:rPr lang="en-US" sz="3000" b="1" i="1" dirty="0">
                <a:solidFill>
                  <a:schemeClr val="accent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I’d like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EL PATRÓN: I’D LIKE + LO QUE PIDES</a:t>
            </a:r>
            <a:endParaRPr lang="en-US" sz="3600" dirty="0"/>
          </a:p>
        </p:txBody>
      </p:sp>
      <p:sp>
        <p:nvSpPr>
          <p:cNvPr id="7" name="Chip 1 fondo"/>
          <p:cNvSpPr/>
          <p:nvPr/>
        </p:nvSpPr>
        <p:spPr>
          <a:xfrm>
            <a:off x="548640" y="187452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Chip 1 frase"/>
          <p:cNvSpPr/>
          <p:nvPr/>
        </p:nvSpPr>
        <p:spPr>
          <a:xfrm>
            <a:off x="54864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Chip 1 texto frase"/>
          <p:cNvSpPr txBox="1"/>
          <p:nvPr/>
        </p:nvSpPr>
        <p:spPr>
          <a:xfrm>
            <a:off x="73152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I’d like</a:t>
            </a:r>
            <a:endParaRPr lang="en-US" sz="2800" dirty="0"/>
          </a:p>
        </p:txBody>
      </p:sp>
      <p:sp>
        <p:nvSpPr>
          <p:cNvPr id="10" name="Chip 1 descripción"/>
          <p:cNvSpPr txBox="1"/>
          <p:nvPr/>
        </p:nvSpPr>
        <p:spPr>
          <a:xfrm>
            <a:off x="777240" y="2880360"/>
            <a:ext cx="3136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significa “me gustaría”</a:t>
            </a:r>
            <a:endParaRPr lang="en-US" sz="2400" dirty="0"/>
          </a:p>
        </p:txBody>
      </p:sp>
      <p:sp>
        <p:nvSpPr>
          <p:cNvPr id="11" name="Chip 2 fondo"/>
          <p:cNvSpPr/>
          <p:nvPr/>
        </p:nvSpPr>
        <p:spPr>
          <a:xfrm>
            <a:off x="4297680" y="187452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Chip 2 frase"/>
          <p:cNvSpPr/>
          <p:nvPr/>
        </p:nvSpPr>
        <p:spPr>
          <a:xfrm>
            <a:off x="429768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Chip 2 texto frase"/>
          <p:cNvSpPr txBox="1"/>
          <p:nvPr/>
        </p:nvSpPr>
        <p:spPr>
          <a:xfrm>
            <a:off x="448056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coffee</a:t>
            </a:r>
            <a:endParaRPr lang="en-US" sz="2800" dirty="0"/>
          </a:p>
        </p:txBody>
      </p:sp>
      <p:sp>
        <p:nvSpPr>
          <p:cNvPr id="14" name="Chip 2 descripción"/>
          <p:cNvSpPr txBox="1"/>
          <p:nvPr/>
        </p:nvSpPr>
        <p:spPr>
          <a:xfrm>
            <a:off x="4526280" y="2880360"/>
            <a:ext cx="3136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 que pides</a:t>
            </a:r>
            <a:endParaRPr lang="en-US" sz="2400" dirty="0"/>
          </a:p>
        </p:txBody>
      </p:sp>
      <p:sp>
        <p:nvSpPr>
          <p:cNvPr id="15" name="Chip 3 fondo"/>
          <p:cNvSpPr/>
          <p:nvPr/>
        </p:nvSpPr>
        <p:spPr>
          <a:xfrm>
            <a:off x="8046720" y="187452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6" name="Chip 3 frase"/>
          <p:cNvSpPr/>
          <p:nvPr/>
        </p:nvSpPr>
        <p:spPr>
          <a:xfrm>
            <a:off x="804672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Chip 3 texto frase"/>
          <p:cNvSpPr txBox="1"/>
          <p:nvPr/>
        </p:nvSpPr>
        <p:spPr>
          <a:xfrm>
            <a:off x="822960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please.</a:t>
            </a:r>
            <a:endParaRPr lang="en-US" sz="2800" dirty="0"/>
          </a:p>
        </p:txBody>
      </p:sp>
      <p:sp>
        <p:nvSpPr>
          <p:cNvPr id="18" name="Chip 3 descripción"/>
          <p:cNvSpPr txBox="1"/>
          <p:nvPr/>
        </p:nvSpPr>
        <p:spPr>
          <a:xfrm>
            <a:off x="8275320" y="2880360"/>
            <a:ext cx="3136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cierra con cortesía</a:t>
            </a:r>
            <a:endParaRPr lang="en-US" sz="2400" dirty="0"/>
          </a:p>
        </p:txBody>
      </p:sp>
      <p:sp>
        <p:nvSpPr>
          <p:cNvPr id="19" name="Barra significado"/>
          <p:cNvSpPr/>
          <p:nvPr/>
        </p:nvSpPr>
        <p:spPr>
          <a:xfrm>
            <a:off x="548640" y="457200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0" name="Significado"/>
          <p:cNvSpPr txBox="1"/>
          <p:nvPr/>
        </p:nvSpPr>
        <p:spPr>
          <a:xfrm>
            <a:off x="868680" y="45720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Significa:  </a:t>
            </a:r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Me gustaría un café, por favor.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EN EL RESTAURANTE</a:t>
            </a:r>
            <a:endParaRPr lang="en-US" sz="3600" dirty="0"/>
          </a:p>
        </p:txBody>
      </p:sp>
      <p:sp>
        <p:nvSpPr>
          <p:cNvPr id="7" name="Tarjeta diálogo"/>
          <p:cNvSpPr/>
          <p:nvPr/>
        </p:nvSpPr>
        <p:spPr>
          <a:xfrm>
            <a:off x="548640" y="1874520"/>
            <a:ext cx="7223760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Diálogo"/>
          <p:cNvSpPr txBox="1"/>
          <p:nvPr/>
        </p:nvSpPr>
        <p:spPr>
          <a:xfrm>
            <a:off x="868680" y="20574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Waiter: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Hi! What would you like?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I’d like a coffee, please.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Waiter: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Sure. Anything else?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Yes, I’d like a sandwich, too.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Waiter: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Of course.</a:t>
            </a:r>
            <a:endParaRPr lang="en-US" sz="2400" dirty="0"/>
          </a:p>
        </p:txBody>
      </p:sp>
      <p:sp>
        <p:nvSpPr>
          <p:cNvPr id="9" name="Tarjeta explicación"/>
          <p:cNvSpPr/>
          <p:nvPr/>
        </p:nvSpPr>
        <p:spPr>
          <a:xfrm>
            <a:off x="8046720" y="1874520"/>
            <a:ext cx="3593592" cy="3657600"/>
          </a:xfrm>
          <a:prstGeom prst="roundRect">
            <a:avLst>
              <a:gd name="adj" fmla="val 3053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0" name="Ícono conversación" descr="Convers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103120"/>
            <a:ext cx="640080" cy="640080"/>
          </a:xfrm>
          <a:prstGeom prst="rect">
            <a:avLst/>
          </a:prstGeom>
        </p:spPr>
      </p:pic>
      <p:sp>
        <p:nvSpPr>
          <p:cNvPr id="11" name="Explicación"/>
          <p:cNvSpPr txBox="1"/>
          <p:nvPr/>
        </p:nvSpPr>
        <p:spPr>
          <a:xfrm>
            <a:off x="8321040" y="29260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 mesero pregunta con “would like”.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Tú respondes con “I’d like”.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REPITE DESPUÉS DE MÍ</a:t>
            </a:r>
            <a:endParaRPr lang="en-US" sz="3600" dirty="0"/>
          </a:p>
        </p:txBody>
      </p:sp>
      <p:sp>
        <p:nvSpPr>
          <p:cNvPr id="7" name="Tarjeta frases eco"/>
          <p:cNvSpPr/>
          <p:nvPr/>
        </p:nvSpPr>
        <p:spPr>
          <a:xfrm>
            <a:off x="548640" y="1874520"/>
            <a:ext cx="7863840" cy="27432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8" name="Ícono audio" descr="Altavo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640080" cy="640080"/>
          </a:xfrm>
          <a:prstGeom prst="rect">
            <a:avLst/>
          </a:prstGeom>
        </p:spPr>
      </p:pic>
      <p:sp>
        <p:nvSpPr>
          <p:cNvPr id="9" name="Frases eco"/>
          <p:cNvSpPr txBox="1"/>
          <p:nvPr/>
        </p:nvSpPr>
        <p:spPr>
          <a:xfrm>
            <a:off x="1783080" y="2011680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I’d like a coffee, please.</a:t>
            </a:r>
            <a:endParaRPr lang="en-US" sz="2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I’d like a tea, please.</a:t>
            </a:r>
            <a:endParaRPr lang="en-US" sz="2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I’d like a chicken sandwich, please.</a:t>
            </a:r>
            <a:endParaRPr lang="en-US" sz="2800" dirty="0"/>
          </a:p>
        </p:txBody>
      </p:sp>
      <p:sp>
        <p:nvSpPr>
          <p:cNvPr id="10" name="Tarjeta consigna"/>
          <p:cNvSpPr/>
          <p:nvPr/>
        </p:nvSpPr>
        <p:spPr>
          <a:xfrm>
            <a:off x="548640" y="4800600"/>
            <a:ext cx="7863840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Consigna"/>
          <p:cNvSpPr txBox="1"/>
          <p:nvPr/>
        </p:nvSpPr>
        <p:spPr>
          <a:xfrm>
            <a:off x="868680" y="48006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Escucha, pausa y repite en voz alta.</a:t>
            </a:r>
            <a:endParaRPr lang="en-US" sz="2400" dirty="0"/>
          </a:p>
        </p:txBody>
      </p:sp>
      <p:sp>
        <p:nvSpPr>
          <p:cNvPr id="12" name="Marco avatar"/>
          <p:cNvSpPr/>
          <p:nvPr/>
        </p:nvSpPr>
        <p:spPr>
          <a:xfrm>
            <a:off x="9143695" y="1874520"/>
            <a:ext cx="2499360" cy="3657600"/>
          </a:xfrm>
          <a:prstGeom prst="roundRect">
            <a:avLst>
              <a:gd name="adj" fmla="val 439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Avatar Mercedes" descr="Mercedes, profesora de MMercedesEngl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135" y="1965960"/>
            <a:ext cx="2316480" cy="3474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TU TURNO: ERES EL CLIENTE</a:t>
            </a:r>
            <a:endParaRPr lang="en-US" sz="3600" dirty="0"/>
          </a:p>
        </p:txBody>
      </p:sp>
      <p:sp>
        <p:nvSpPr>
          <p:cNvPr id="7" name="Tarjeta menú"/>
          <p:cNvSpPr/>
          <p:nvPr/>
        </p:nvSpPr>
        <p:spPr>
          <a:xfrm>
            <a:off x="548640" y="1874520"/>
            <a:ext cx="5440680" cy="3657600"/>
          </a:xfrm>
          <a:prstGeom prst="roundRect">
            <a:avLst>
              <a:gd name="adj" fmla="val 3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8" name="Ícono menú" descr="Men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640080" cy="640080"/>
          </a:xfrm>
          <a:prstGeom prst="rect">
            <a:avLst/>
          </a:prstGeom>
        </p:spPr>
      </p:pic>
      <p:sp>
        <p:nvSpPr>
          <p:cNvPr id="9" name="Título menú"/>
          <p:cNvSpPr txBox="1"/>
          <p:nvPr/>
        </p:nvSpPr>
        <p:spPr>
          <a:xfrm>
            <a:off x="169164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MENU</a:t>
            </a:r>
            <a:endParaRPr lang="en-US" sz="3600" dirty="0"/>
          </a:p>
        </p:txBody>
      </p:sp>
      <p:sp>
        <p:nvSpPr>
          <p:cNvPr id="10" name="Platos"/>
          <p:cNvSpPr txBox="1"/>
          <p:nvPr/>
        </p:nvSpPr>
        <p:spPr>
          <a:xfrm>
            <a:off x="868680" y="29260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coffee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salad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pizza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 orange juice</a:t>
            </a:r>
            <a:endParaRPr lang="en-US" sz="2800" dirty="0"/>
          </a:p>
        </p:txBody>
      </p:sp>
      <p:sp>
        <p:nvSpPr>
          <p:cNvPr id="11" name="Tarjeta instrucciones"/>
          <p:cNvSpPr/>
          <p:nvPr/>
        </p:nvSpPr>
        <p:spPr>
          <a:xfrm>
            <a:off x="6199632" y="1874520"/>
            <a:ext cx="5440680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2" name="Ícono pregunta" descr="Pregu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103120"/>
            <a:ext cx="640080" cy="640080"/>
          </a:xfrm>
          <a:prstGeom prst="rect">
            <a:avLst/>
          </a:prstGeom>
        </p:spPr>
      </p:pic>
      <p:sp>
        <p:nvSpPr>
          <p:cNvPr id="13" name="Instrucciones"/>
          <p:cNvSpPr txBox="1"/>
          <p:nvPr/>
        </p:nvSpPr>
        <p:spPr>
          <a:xfrm>
            <a:off x="6519672" y="29260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Escucha al mesero.</a:t>
            </a:r>
            <a:endParaRPr lang="en-US" sz="2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Elige algo del menú.</a:t>
            </a:r>
            <a:endParaRPr lang="en-US" sz="2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Responde en voz alta.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ROLEPLAY: ASÍ PUEDE SONAR</a:t>
            </a:r>
            <a:endParaRPr lang="en-US" sz="3600" dirty="0"/>
          </a:p>
        </p:txBody>
      </p:sp>
      <p:sp>
        <p:nvSpPr>
          <p:cNvPr id="7" name="Tarjeta diálogo"/>
          <p:cNvSpPr/>
          <p:nvPr/>
        </p:nvSpPr>
        <p:spPr>
          <a:xfrm>
            <a:off x="548640" y="1874520"/>
            <a:ext cx="7223760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Diálogo"/>
          <p:cNvSpPr txBox="1"/>
          <p:nvPr/>
        </p:nvSpPr>
        <p:spPr>
          <a:xfrm>
            <a:off x="868680" y="20574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Waiter:  </a:t>
            </a:r>
            <a:pPr indent="0" marL="0">
              <a:spcAft>
                <a:spcPts val="1200"/>
              </a:spcAft>
              <a:buNone/>
            </a:pPr>
            <a:r>
              <a:rPr lang="en-US" sz="26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Hi! What would you like?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You:  </a:t>
            </a:r>
            <a:pPr indent="0" marL="0">
              <a:spcAft>
                <a:spcPts val="1200"/>
              </a:spcAft>
              <a:buNone/>
            </a:pPr>
            <a:r>
              <a:rPr lang="en-US" sz="26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I’d like a salad, please.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Waiter:  </a:t>
            </a:r>
            <a:pPr indent="0" marL="0">
              <a:spcAft>
                <a:spcPts val="1200"/>
              </a:spcAft>
              <a:buNone/>
            </a:pPr>
            <a:r>
              <a:rPr lang="en-US" sz="26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Sure. Anything else?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You:  </a:t>
            </a:r>
            <a:pPr indent="0" marL="0">
              <a:spcAft>
                <a:spcPts val="1200"/>
              </a:spcAft>
              <a:buNone/>
            </a:pPr>
            <a:r>
              <a:rPr lang="en-US" sz="26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Yes, I’d like an orange juice, too.</a:t>
            </a:r>
            <a:endParaRPr lang="en-US" sz="2400" dirty="0"/>
          </a:p>
        </p:txBody>
      </p:sp>
      <p:sp>
        <p:nvSpPr>
          <p:cNvPr id="9" name="Tarjeta recordatorio"/>
          <p:cNvSpPr/>
          <p:nvPr/>
        </p:nvSpPr>
        <p:spPr>
          <a:xfrm>
            <a:off x="8046720" y="1874520"/>
            <a:ext cx="3593592" cy="3657600"/>
          </a:xfrm>
          <a:prstGeom prst="roundRect">
            <a:avLst>
              <a:gd name="adj" fmla="val 3053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0" name="Ícono check" descr="Corre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103120"/>
            <a:ext cx="640080" cy="640080"/>
          </a:xfrm>
          <a:prstGeom prst="rect">
            <a:avLst/>
          </a:prstGeom>
        </p:spPr>
      </p:pic>
      <p:sp>
        <p:nvSpPr>
          <p:cNvPr id="11" name="Recordatorio"/>
          <p:cNvSpPr txBox="1"/>
          <p:nvPr/>
        </p:nvSpPr>
        <p:spPr>
          <a:xfrm>
            <a:off x="8321040" y="29260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Puedes elegir otro plato.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 estructura es la misma.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COMPROBACIÓN: ÚLTIMO INTENTO</a:t>
            </a:r>
            <a:endParaRPr lang="en-US" sz="3600" dirty="0"/>
          </a:p>
        </p:txBody>
      </p:sp>
      <p:sp>
        <p:nvSpPr>
          <p:cNvPr id="7" name="Tarjeta cambia la frase"/>
          <p:cNvSpPr/>
          <p:nvPr/>
        </p:nvSpPr>
        <p:spPr>
          <a:xfrm>
            <a:off x="548640" y="1874520"/>
            <a:ext cx="5440680" cy="237744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8" name="Ícono pregunta" descr="Pregun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640080" cy="640080"/>
          </a:xfrm>
          <a:prstGeom prst="rect">
            <a:avLst/>
          </a:prstGeom>
        </p:spPr>
      </p:pic>
      <p:sp>
        <p:nvSpPr>
          <p:cNvPr id="9" name="Cambia la frase"/>
          <p:cNvSpPr txBox="1"/>
          <p:nvPr/>
        </p:nvSpPr>
        <p:spPr>
          <a:xfrm>
            <a:off x="868680" y="28346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Hazla más cortés: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0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want a hamburger.</a:t>
            </a:r>
            <a:endParaRPr lang="en-US" sz="2400" dirty="0"/>
          </a:p>
        </p:txBody>
      </p:sp>
      <p:sp>
        <p:nvSpPr>
          <p:cNvPr id="10" name="Tarjeta responde"/>
          <p:cNvSpPr/>
          <p:nvPr/>
        </p:nvSpPr>
        <p:spPr>
          <a:xfrm>
            <a:off x="6199632" y="1874520"/>
            <a:ext cx="544068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1" name="Ícono audio" descr="Altavoz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103120"/>
            <a:ext cx="640080" cy="640080"/>
          </a:xfrm>
          <a:prstGeom prst="rect">
            <a:avLst/>
          </a:prstGeom>
        </p:spPr>
      </p:pic>
      <p:sp>
        <p:nvSpPr>
          <p:cNvPr id="12" name="Responde al mesero"/>
          <p:cNvSpPr txBox="1"/>
          <p:nvPr/>
        </p:nvSpPr>
        <p:spPr>
          <a:xfrm>
            <a:off x="6519672" y="28346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Escucha y responde: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0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Are you ready to order?</a:t>
            </a:r>
            <a:endParaRPr lang="en-US" sz="2400" dirty="0"/>
          </a:p>
        </p:txBody>
      </p:sp>
      <p:sp>
        <p:nvSpPr>
          <p:cNvPr id="13" name="Barra pausa"/>
          <p:cNvSpPr/>
          <p:nvPr/>
        </p:nvSpPr>
        <p:spPr>
          <a:xfrm>
            <a:off x="548640" y="448056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Pausa"/>
          <p:cNvSpPr txBox="1"/>
          <p:nvPr/>
        </p:nvSpPr>
        <p:spPr>
          <a:xfrm>
            <a:off x="868680" y="44805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Piensa durante 5 segundos y responde en voz alta.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COMPROBACIÓN: RESPUESTAS</a:t>
            </a:r>
            <a:endParaRPr lang="en-US" sz="3600" dirty="0"/>
          </a:p>
        </p:txBody>
      </p:sp>
      <p:sp>
        <p:nvSpPr>
          <p:cNvPr id="7" name="Tarjeta respuesta 1"/>
          <p:cNvSpPr/>
          <p:nvPr/>
        </p:nvSpPr>
        <p:spPr>
          <a:xfrm>
            <a:off x="548640" y="1874520"/>
            <a:ext cx="5440680" cy="3657600"/>
          </a:xfrm>
          <a:prstGeom prst="roundRect">
            <a:avLst>
              <a:gd name="adj" fmla="val 3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8" name="Ícono check" descr="Corre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640080" cy="640080"/>
          </a:xfrm>
          <a:prstGeom prst="rect">
            <a:avLst/>
          </a:prstGeom>
        </p:spPr>
      </p:pic>
      <p:sp>
        <p:nvSpPr>
          <p:cNvPr id="9" name="Respuesta 1"/>
          <p:cNvSpPr txBox="1"/>
          <p:nvPr/>
        </p:nvSpPr>
        <p:spPr>
          <a:xfrm>
            <a:off x="868680" y="29260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Más cortés: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30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I’d like a hamburger, please.</a:t>
            </a:r>
            <a:endParaRPr lang="en-US" sz="2400" dirty="0"/>
          </a:p>
        </p:txBody>
      </p:sp>
      <p:sp>
        <p:nvSpPr>
          <p:cNvPr id="10" name="Tarjeta respuesta 2"/>
          <p:cNvSpPr/>
          <p:nvPr/>
        </p:nvSpPr>
        <p:spPr>
          <a:xfrm>
            <a:off x="6199632" y="1874520"/>
            <a:ext cx="5440680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1" name="Ícono check" descr="Correc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103120"/>
            <a:ext cx="640080" cy="640080"/>
          </a:xfrm>
          <a:prstGeom prst="rect">
            <a:avLst/>
          </a:prstGeom>
        </p:spPr>
      </p:pic>
      <p:sp>
        <p:nvSpPr>
          <p:cNvPr id="12" name="Respuesta 2"/>
          <p:cNvSpPr txBox="1"/>
          <p:nvPr/>
        </p:nvSpPr>
        <p:spPr>
          <a:xfrm>
            <a:off x="6519672" y="29260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Al mesero: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30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Yes. I’d like a pizza, please.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3"/>
          <p:cNvSpPr/>
          <p:nvPr>
            <p:ph idx="103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PIDE CON CORTESÍA</a:t>
            </a:r>
            <a:endParaRPr lang="en-US" sz="3600" dirty="0"/>
          </a:p>
        </p:txBody>
      </p:sp>
      <p:sp>
        <p:nvSpPr>
          <p:cNvPr id="7" name="Expresión"/>
          <p:cNvSpPr/>
          <p:nvPr/>
        </p:nvSpPr>
        <p:spPr>
          <a:xfrm>
            <a:off x="548640" y="1874520"/>
            <a:ext cx="78638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Frase"/>
          <p:cNvSpPr txBox="1"/>
          <p:nvPr/>
        </p:nvSpPr>
        <p:spPr>
          <a:xfrm>
            <a:off x="868680" y="187452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I’d like a coffee, please.</a:t>
            </a:r>
            <a:endParaRPr lang="en-US" sz="3200" dirty="0"/>
          </a:p>
        </p:txBody>
      </p:sp>
      <p:sp>
        <p:nvSpPr>
          <p:cNvPr id="9" name="Recuento"/>
          <p:cNvSpPr/>
          <p:nvPr/>
        </p:nvSpPr>
        <p:spPr>
          <a:xfrm>
            <a:off x="548640" y="3154680"/>
            <a:ext cx="7863840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Texto recuento"/>
          <p:cNvSpPr txBox="1"/>
          <p:nvPr/>
        </p:nvSpPr>
        <p:spPr>
          <a:xfrm>
            <a:off x="868680" y="31546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want  →  I’d like</a:t>
            </a:r>
            <a:endParaRPr lang="en-US" sz="2800" dirty="0"/>
          </a:p>
        </p:txBody>
      </p:sp>
      <p:sp>
        <p:nvSpPr>
          <p:cNvPr id="11" name="Tarea"/>
          <p:cNvSpPr/>
          <p:nvPr/>
        </p:nvSpPr>
        <p:spPr>
          <a:xfrm>
            <a:off x="548640" y="4206240"/>
            <a:ext cx="78638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2" name="Ícono micrófono" descr="Micróf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434840"/>
            <a:ext cx="640080" cy="640080"/>
          </a:xfrm>
          <a:prstGeom prst="rect">
            <a:avLst/>
          </a:prstGeom>
        </p:spPr>
      </p:pic>
      <p:sp>
        <p:nvSpPr>
          <p:cNvPr id="13" name="Texto tarea"/>
          <p:cNvSpPr txBox="1"/>
          <p:nvPr/>
        </p:nvSpPr>
        <p:spPr>
          <a:xfrm>
            <a:off x="1783080" y="420624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Tu práctica: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Envía un audio de 15 segundos al grupo de WhatsApp pidiendo algo con “I’d like…”. Mercedes te responde.</a:t>
            </a:r>
            <a:endParaRPr lang="en-US" sz="2400" dirty="0"/>
          </a:p>
        </p:txBody>
      </p:sp>
      <p:sp>
        <p:nvSpPr>
          <p:cNvPr id="14" name="Marco avatar"/>
          <p:cNvSpPr/>
          <p:nvPr/>
        </p:nvSpPr>
        <p:spPr>
          <a:xfrm>
            <a:off x="9143695" y="1874520"/>
            <a:ext cx="2499360" cy="3657600"/>
          </a:xfrm>
          <a:prstGeom prst="roundRect">
            <a:avLst>
              <a:gd name="adj" fmla="val 439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Avatar Mercedes" descr="Mercedes, profesora de MMercedesEngl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135" y="1965960"/>
            <a:ext cx="2316480" cy="3474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MercedesEnglish">
  <a:themeElements>
    <a:clrScheme name="MMercedesEnglish">
      <a:dk1>
        <a:srgbClr val="0D1B3E"/>
      </a:dk1>
      <a:lt1>
        <a:srgbClr val="FFFFFF"/>
      </a:lt1>
      <a:dk2>
        <a:srgbClr val="BE9100"/>
      </a:dk2>
      <a:lt2>
        <a:srgbClr val="FFFBF0"/>
      </a:lt2>
      <a:accent1>
        <a:srgbClr val="FFD23F"/>
      </a:accent1>
      <a:accent2>
        <a:srgbClr val="0D1B3E"/>
      </a:accent2>
      <a:accent3>
        <a:srgbClr val="BE9100"/>
      </a:accent3>
      <a:accent4>
        <a:srgbClr val="FFFBF0"/>
      </a:accent4>
      <a:accent5>
        <a:srgbClr val="FFFFFF"/>
      </a:accent5>
      <a:accent6>
        <a:srgbClr val="FFD23F"/>
      </a:accent6>
      <a:hlink>
        <a:srgbClr val="0D1B3E"/>
      </a:hlink>
      <a:folHlink>
        <a:srgbClr val="BE9100"/>
      </a:folHlink>
    </a:clrScheme>
    <a:fontScheme name="MMercedesEnglish">
      <a:majorFont>
        <a:latin typeface="Big Shoulder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Work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Microclase: I'd like, en lugar de I want</dc:title>
  <dc:subject>PptxGenJS Presentation</dc:subject>
  <dc:creator>MMercedesEnglish</dc:creator>
  <cp:lastModifiedBy>MMercedesEnglish</cp:lastModifiedBy>
  <cp:revision>1</cp:revision>
  <dcterms:created xsi:type="dcterms:W3CDTF">2026-10-06T03:33:13Z</dcterms:created>
  <dcterms:modified xsi:type="dcterms:W3CDTF">2026-10-06T03:33:13Z</dcterms:modified>
</cp:coreProperties>
</file>