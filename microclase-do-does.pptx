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bfd546a-0949-287b-5b6a-edd9db15db50}">
          <p14:sldIdLst>
            <p14:sldId id="256"/>
          </p14:sldIdLst>
        </p14:section>
        <p14:section name="Do y does" id="{de044dfa-f3de-f59a-5728-bbbd21fca734}">
          <p14:sldIdLst>
            <p14:sldId id="257"/>
            <p14:sldId id="258"/>
            <p14:sldId id="259"/>
          </p14:sldIdLst>
        </p14:section>
        <p14:section name="El error más común" id="{671efd86-e94f-d88d-eebc-d8d10699b845}">
          <p14:sldIdLst>
            <p14:sldId id="260"/>
          </p14:sldIdLst>
        </p14:section>
        <p14:section name="Negativos" id="{e8c807bb-10e6-6fac-f71d-0b4e50faeb46}">
          <p14:sldIdLst>
            <p14:sldId id="261"/>
          </p14:sldIdLst>
        </p14:section>
        <p14:section name="Práctica" id="{c7485050-c146-eb80-d938-5c645b07f4ab}">
          <p14:sldIdLst>
            <p14:sldId id="262"/>
            <p14:sldId id="263"/>
            <p14:sldId id="264"/>
          </p14:sldIdLst>
        </p14:section>
        <p14:section name="Tu turno" id="{af409e5c-aee5-b7a9-d730-ca18b04fbb64}">
          <p14:sldIdLst>
            <p14:sldId id="265"/>
          </p14:sldIdLst>
        </p14:section>
        <p14:section name="Cierre" id="{56f69c52-b157-ce30-bb91-372e9d779b2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a 0:30] APERTURA
Hola. En inglés, casi todas las preguntas tienen un ayudante: do o does. Hoy aprendes cuándo usar cada uno, cómo cambia el verbo y cómo responder de forma corta.
Piensa: ¿cómo preguntarías “¿Ella trabaja aquí?” en inglés? (Pausa de 3 segundos. En clase en vivo, pide que lo escriban en el chat.) Vamos a verlo.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 a 1:10] DE AFIRMACIÓN A PREGUNTA
Mira la oración: “She works here.” Para preguntar, pones “does” al inicio: “Does she work here?”
Fíjate en un detalle: la s pasa de “works” a “does”, y el verbo vuelve a su forma base, “work”.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 a 2:00] DO
Con I, you, we y they, usamos “do”. Mira: “Do you like coffee?” Significa: “¿Te gusta el café?”
Señala cada segmento: “Do” es el auxiliar; “you” es quien hace la acción; “like coffee” va después, con el verbo en forma base.
Para responder, usa una respuesta corta: “Yes, I do.” o “No, I don’t.” No repites el verbo.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 a 2:50] DOES
Con he, she e it, usamos “does”. Mira: “Does she speak English?” Significa: “¿Ella habla inglés?”
Otra vez, el verbo queda en forma base: “speak”, no “speaks”.
Para responder: “Yes, she does.” o “No, she doesn’t.”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 a 3:35] EL ERROR MÁS COMÚN
Este es el error más común: “Does she works here?” Es incorrecto. “Does” ya lleva la s, así que el verbo no la repite. Lo correcto es “Does she work here?”
Un tip de pronunciación: “does” rima con “buzz”, no con “doze”.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 a 4:25] NEGATIVOS
Para decir que no, usamos “don’t” con I, you, we y they, y “doesn’t” con he, she e it. “I don’t like tea.” “She doesn’t work today.”
Después va el verbo en forma base. La regla es la misma: el auxiliar lleva la s, el verbo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 a 5:10] PRÁCTICA EN ECO
Ahora repite después de mí, en voz alta. Di cada frase con volumen normal y claro, haz una pausa de 4 segundos para que repitan y pasa a la siguiente.
1. “Do you like coffee?” (Pausa de 4 segundos.)
2. “Does she speak English?” (Pausa de 4 segundos.)
3. “He doesn’t work on Sunday.” (Pausa de 4 segundos.)
Muy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[5:10 a 5:55] ¿DO O DOES?
Elige do o does. Lee cada oración y haz una pausa de 4 segundos tras cada una.
Uno: “you speak Spanish”. Dos: “she live here”. Tres: “they work on Monday”. Cuatro: “he play soccer”.
Avanza al siguiente slide solo después de las cuatro pausas.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[5:55 a 6:25] RESPUESTAS
Uno: “Do you speak Spanish?” Dos: “Does she live here?” Tres: “Do they work on Monday?” Cuatro: “Does he play soccer?”
Recuerda: I, you, we y they usan do. He, she e it usan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[6:25 a 7:10] TU TURNO
Ahora responde con una respuesta corta. Escucha: “Do you speak English?” (Pausa de 5 segundos.) Por ejemplo: “Yes, I do.”
Ahora: “Does your friend live here?” (Pausa de 5 segundos.) Por ejemplo: “No, she doesn’t.”
Responde lo que sea verdad para ti. Lee las preguntas con volumen normal y claro.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[7:10 a 7:45] CIERRE
Hoy aprendiste que do va con I, you, we y they, y does va con he, she e it. Después del auxiliar, el verbo queda en forma base.
Pregunta de salida: corrige “He don’t like tea.” (Pausa de 5 segundos.) La respuesta es: “He doesn’t like tea.” Hasta la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_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 |  Beginner  |  Microclase  |  Do and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8704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6144768"/>
            <a:ext cx="98755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111099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</a:ln>
        </p:spPr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Título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_OPEN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 |  Beginner  |  Microclase  |  Do and does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Título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_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 |  Beginner  |  Microclase  |  Do and does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Pastilla microclase"/>
          <p:cNvSpPr/>
          <p:nvPr/>
        </p:nvSpPr>
        <p:spPr>
          <a:xfrm>
            <a:off x="548640" y="1188720"/>
            <a:ext cx="14630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o pastilla"/>
          <p:cNvSpPr txBox="1"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Microclase</a:t>
            </a:r>
            <a:endParaRPr lang="en-US" sz="1600" dirty="0"/>
          </a:p>
        </p:txBody>
      </p:sp>
      <p:sp>
        <p:nvSpPr>
          <p:cNvPr id="8" name="Título portada"/>
          <p:cNvSpPr txBox="1"/>
          <p:nvPr/>
        </p:nvSpPr>
        <p:spPr>
          <a:xfrm>
            <a:off x="548640" y="1783080"/>
            <a:ext cx="7040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DO OR DOES?</a:t>
            </a:r>
            <a:endParaRPr lang="en-US" sz="7200" dirty="0"/>
          </a:p>
        </p:txBody>
      </p:sp>
      <p:sp>
        <p:nvSpPr>
          <p:cNvPr id="9" name="Subtítulo portada"/>
          <p:cNvSpPr txBox="1"/>
          <p:nvPr/>
        </p:nvSpPr>
        <p:spPr>
          <a:xfrm>
            <a:off x="548640" y="32004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auxiliar que te ayuda a preguntar y a negar en presente simple.</a:t>
            </a:r>
            <a:endParaRPr lang="en-US" sz="2600" dirty="0"/>
          </a:p>
        </p:txBody>
      </p:sp>
      <p:sp>
        <p:nvSpPr>
          <p:cNvPr id="10" name="Lema"/>
          <p:cNvSpPr/>
          <p:nvPr/>
        </p:nvSpPr>
        <p:spPr>
          <a:xfrm>
            <a:off x="548640" y="5577840"/>
            <a:ext cx="384048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o lema"/>
          <p:cNvSpPr txBox="1"/>
          <p:nvPr/>
        </p:nvSpPr>
        <p:spPr>
          <a:xfrm>
            <a:off x="548640" y="5577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800" dirty="0"/>
          </a:p>
        </p:txBody>
      </p:sp>
      <p:sp>
        <p:nvSpPr>
          <p:cNvPr id="12" name="Marco avatar"/>
          <p:cNvSpPr/>
          <p:nvPr/>
        </p:nvSpPr>
        <p:spPr>
          <a:xfrm>
            <a:off x="7799832" y="1051560"/>
            <a:ext cx="3841784" cy="4754880"/>
          </a:xfrm>
          <a:prstGeom prst="roundRect">
            <a:avLst>
              <a:gd name="adj" fmla="val 285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Avatar Mercedes" descr="Mercedes, profesora de MMercedesEngl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2" y="1143000"/>
            <a:ext cx="3658904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DE AFIRMACIÓN A PREGUNTA</a:t>
            </a:r>
            <a:endParaRPr lang="en-US" sz="3600" dirty="0"/>
          </a:p>
        </p:txBody>
      </p:sp>
      <p:sp>
        <p:nvSpPr>
          <p:cNvPr id="7" name="Afirmación fondo"/>
          <p:cNvSpPr/>
          <p:nvPr/>
        </p:nvSpPr>
        <p:spPr>
          <a:xfrm>
            <a:off x="548640" y="187452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Afirmación etiqueta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Afirmación</a:t>
            </a:r>
            <a:endParaRPr lang="en-US" sz="2400" dirty="0"/>
          </a:p>
        </p:txBody>
      </p:sp>
      <p:sp>
        <p:nvSpPr>
          <p:cNvPr id="9" name="Afirmación frase"/>
          <p:cNvSpPr txBox="1"/>
          <p:nvPr/>
        </p:nvSpPr>
        <p:spPr>
          <a:xfrm>
            <a:off x="822960" y="2514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She works here.</a:t>
            </a:r>
            <a:endParaRPr lang="en-US" sz="3200" dirty="0"/>
          </a:p>
        </p:txBody>
      </p:sp>
      <p:sp>
        <p:nvSpPr>
          <p:cNvPr id="10" name="Pregunta fondo"/>
          <p:cNvSpPr/>
          <p:nvPr/>
        </p:nvSpPr>
        <p:spPr>
          <a:xfrm>
            <a:off x="6199632" y="187452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Pregunta etiqueta"/>
          <p:cNvSpPr txBox="1"/>
          <p:nvPr/>
        </p:nvSpPr>
        <p:spPr>
          <a:xfrm>
            <a:off x="6473952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Pregunta</a:t>
            </a:r>
            <a:endParaRPr lang="en-US" sz="2400" dirty="0"/>
          </a:p>
        </p:txBody>
      </p:sp>
      <p:sp>
        <p:nvSpPr>
          <p:cNvPr id="12" name="Pregunta frase"/>
          <p:cNvSpPr txBox="1"/>
          <p:nvPr/>
        </p:nvSpPr>
        <p:spPr>
          <a:xfrm>
            <a:off x="6473952" y="2514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Does she work here?</a:t>
            </a:r>
            <a:endParaRPr lang="en-US" sz="3200" dirty="0"/>
          </a:p>
        </p:txBody>
      </p:sp>
      <p:sp>
        <p:nvSpPr>
          <p:cNvPr id="13" name="Barra regla"/>
          <p:cNvSpPr/>
          <p:nvPr/>
        </p:nvSpPr>
        <p:spPr>
          <a:xfrm>
            <a:off x="548640" y="443484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Barra regla texto"/>
          <p:cNvSpPr txBox="1"/>
          <p:nvPr/>
        </p:nvSpPr>
        <p:spPr>
          <a:xfrm>
            <a:off x="868680" y="44348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 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-s</a:t>
            </a:r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 pasa a 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does</a:t>
            </a:r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. El verbo vuelve a su forma base.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DO: I, YOU, WE, THEY</a:t>
            </a:r>
            <a:endParaRPr lang="en-US" sz="3600" dirty="0"/>
          </a:p>
        </p:txBody>
      </p:sp>
      <p:sp>
        <p:nvSpPr>
          <p:cNvPr id="7" name="Chip 1 fondo"/>
          <p:cNvSpPr/>
          <p:nvPr/>
        </p:nvSpPr>
        <p:spPr>
          <a:xfrm>
            <a:off x="54864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Chip 1 frase"/>
          <p:cNvSpPr/>
          <p:nvPr/>
        </p:nvSpPr>
        <p:spPr>
          <a:xfrm>
            <a:off x="54864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Chip 1 texto frase"/>
          <p:cNvSpPr txBox="1"/>
          <p:nvPr/>
        </p:nvSpPr>
        <p:spPr>
          <a:xfrm>
            <a:off x="73152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</a:t>
            </a:r>
            <a:endParaRPr lang="en-US" sz="2800" dirty="0"/>
          </a:p>
        </p:txBody>
      </p:sp>
      <p:sp>
        <p:nvSpPr>
          <p:cNvPr id="10" name="Chip 1 descripción"/>
          <p:cNvSpPr txBox="1"/>
          <p:nvPr/>
        </p:nvSpPr>
        <p:spPr>
          <a:xfrm>
            <a:off x="77724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auxiliar</a:t>
            </a:r>
            <a:endParaRPr lang="en-US" sz="2400" dirty="0"/>
          </a:p>
        </p:txBody>
      </p:sp>
      <p:sp>
        <p:nvSpPr>
          <p:cNvPr id="11" name="Chip 2 fondo"/>
          <p:cNvSpPr/>
          <p:nvPr/>
        </p:nvSpPr>
        <p:spPr>
          <a:xfrm>
            <a:off x="429768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Chip 2 frase"/>
          <p:cNvSpPr/>
          <p:nvPr/>
        </p:nvSpPr>
        <p:spPr>
          <a:xfrm>
            <a:off x="429768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Chip 2 texto frase"/>
          <p:cNvSpPr txBox="1"/>
          <p:nvPr/>
        </p:nvSpPr>
        <p:spPr>
          <a:xfrm>
            <a:off x="448056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</a:t>
            </a:r>
            <a:endParaRPr lang="en-US" sz="2800" dirty="0"/>
          </a:p>
        </p:txBody>
      </p:sp>
      <p:sp>
        <p:nvSpPr>
          <p:cNvPr id="14" name="Chip 2 descripción"/>
          <p:cNvSpPr txBox="1"/>
          <p:nvPr/>
        </p:nvSpPr>
        <p:spPr>
          <a:xfrm>
            <a:off x="452628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I, you, we, they</a:t>
            </a:r>
            <a:endParaRPr lang="en-US" sz="2400" dirty="0"/>
          </a:p>
        </p:txBody>
      </p:sp>
      <p:sp>
        <p:nvSpPr>
          <p:cNvPr id="15" name="Chip 3 fondo"/>
          <p:cNvSpPr/>
          <p:nvPr/>
        </p:nvSpPr>
        <p:spPr>
          <a:xfrm>
            <a:off x="804672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Chip 3 frase"/>
          <p:cNvSpPr/>
          <p:nvPr/>
        </p:nvSpPr>
        <p:spPr>
          <a:xfrm>
            <a:off x="804672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Chip 3 texto frase"/>
          <p:cNvSpPr txBox="1"/>
          <p:nvPr/>
        </p:nvSpPr>
        <p:spPr>
          <a:xfrm>
            <a:off x="822960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like coffee?</a:t>
            </a:r>
            <a:endParaRPr lang="en-US" sz="2800" dirty="0"/>
          </a:p>
        </p:txBody>
      </p:sp>
      <p:sp>
        <p:nvSpPr>
          <p:cNvPr id="18" name="Chip 3 descripción"/>
          <p:cNvSpPr txBox="1"/>
          <p:nvPr/>
        </p:nvSpPr>
        <p:spPr>
          <a:xfrm>
            <a:off x="827532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verbo en forma base</a:t>
            </a:r>
            <a:endParaRPr lang="en-US" sz="2400" dirty="0"/>
          </a:p>
        </p:txBody>
      </p:sp>
      <p:sp>
        <p:nvSpPr>
          <p:cNvPr id="19" name="Barra significado y respuesta"/>
          <p:cNvSpPr/>
          <p:nvPr/>
        </p:nvSpPr>
        <p:spPr>
          <a:xfrm>
            <a:off x="548640" y="438912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Significado"/>
          <p:cNvSpPr txBox="1"/>
          <p:nvPr/>
        </p:nvSpPr>
        <p:spPr>
          <a:xfrm>
            <a:off x="86868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Significa:  </a:t>
            </a:r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¿Te gusta el café?</a:t>
            </a:r>
            <a:endParaRPr lang="en-US" sz="2800" dirty="0"/>
          </a:p>
        </p:txBody>
      </p:sp>
      <p:sp>
        <p:nvSpPr>
          <p:cNvPr id="21" name="Respuesta corta"/>
          <p:cNvSpPr txBox="1"/>
          <p:nvPr/>
        </p:nvSpPr>
        <p:spPr>
          <a:xfrm>
            <a:off x="868680" y="49834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Respuesta corta:  </a:t>
            </a:r>
            <a:pPr indent="0" marL="0">
              <a:buNone/>
            </a:pPr>
            <a:r>
              <a:rPr lang="en-US" sz="24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Yes, I do.  /  No, I don’t.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DOES: HE, SHE, IT</a:t>
            </a:r>
            <a:endParaRPr lang="en-US" sz="3600" dirty="0"/>
          </a:p>
        </p:txBody>
      </p:sp>
      <p:sp>
        <p:nvSpPr>
          <p:cNvPr id="7" name="Chip 1 fondo"/>
          <p:cNvSpPr/>
          <p:nvPr/>
        </p:nvSpPr>
        <p:spPr>
          <a:xfrm>
            <a:off x="54864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Chip 1 frase"/>
          <p:cNvSpPr/>
          <p:nvPr/>
        </p:nvSpPr>
        <p:spPr>
          <a:xfrm>
            <a:off x="54864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Chip 1 texto frase"/>
          <p:cNvSpPr txBox="1"/>
          <p:nvPr/>
        </p:nvSpPr>
        <p:spPr>
          <a:xfrm>
            <a:off x="73152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Does</a:t>
            </a:r>
            <a:endParaRPr lang="en-US" sz="2800" dirty="0"/>
          </a:p>
        </p:txBody>
      </p:sp>
      <p:sp>
        <p:nvSpPr>
          <p:cNvPr id="10" name="Chip 1 descripción"/>
          <p:cNvSpPr txBox="1"/>
          <p:nvPr/>
        </p:nvSpPr>
        <p:spPr>
          <a:xfrm>
            <a:off x="77724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auxiliar</a:t>
            </a:r>
            <a:endParaRPr lang="en-US" sz="2400" dirty="0"/>
          </a:p>
        </p:txBody>
      </p:sp>
      <p:sp>
        <p:nvSpPr>
          <p:cNvPr id="11" name="Chip 2 fondo"/>
          <p:cNvSpPr/>
          <p:nvPr/>
        </p:nvSpPr>
        <p:spPr>
          <a:xfrm>
            <a:off x="429768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Chip 2 frase"/>
          <p:cNvSpPr/>
          <p:nvPr/>
        </p:nvSpPr>
        <p:spPr>
          <a:xfrm>
            <a:off x="429768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Chip 2 texto frase"/>
          <p:cNvSpPr txBox="1"/>
          <p:nvPr/>
        </p:nvSpPr>
        <p:spPr>
          <a:xfrm>
            <a:off x="448056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she</a:t>
            </a:r>
            <a:endParaRPr lang="en-US" sz="2800" dirty="0"/>
          </a:p>
        </p:txBody>
      </p:sp>
      <p:sp>
        <p:nvSpPr>
          <p:cNvPr id="14" name="Chip 2 descripción"/>
          <p:cNvSpPr txBox="1"/>
          <p:nvPr/>
        </p:nvSpPr>
        <p:spPr>
          <a:xfrm>
            <a:off x="452628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he, she, it</a:t>
            </a:r>
            <a:endParaRPr lang="en-US" sz="2400" dirty="0"/>
          </a:p>
        </p:txBody>
      </p:sp>
      <p:sp>
        <p:nvSpPr>
          <p:cNvPr id="15" name="Chip 3 fondo"/>
          <p:cNvSpPr/>
          <p:nvPr/>
        </p:nvSpPr>
        <p:spPr>
          <a:xfrm>
            <a:off x="804672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Chip 3 frase"/>
          <p:cNvSpPr/>
          <p:nvPr/>
        </p:nvSpPr>
        <p:spPr>
          <a:xfrm>
            <a:off x="804672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Chip 3 texto frase"/>
          <p:cNvSpPr txBox="1"/>
          <p:nvPr/>
        </p:nvSpPr>
        <p:spPr>
          <a:xfrm>
            <a:off x="822960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speak English?</a:t>
            </a:r>
            <a:endParaRPr lang="en-US" sz="2800" dirty="0"/>
          </a:p>
        </p:txBody>
      </p:sp>
      <p:sp>
        <p:nvSpPr>
          <p:cNvPr id="18" name="Chip 3 descripción"/>
          <p:cNvSpPr txBox="1"/>
          <p:nvPr/>
        </p:nvSpPr>
        <p:spPr>
          <a:xfrm>
            <a:off x="827532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verbo en forma base</a:t>
            </a:r>
            <a:endParaRPr lang="en-US" sz="2400" dirty="0"/>
          </a:p>
        </p:txBody>
      </p:sp>
      <p:sp>
        <p:nvSpPr>
          <p:cNvPr id="19" name="Barra significado y respuesta"/>
          <p:cNvSpPr/>
          <p:nvPr/>
        </p:nvSpPr>
        <p:spPr>
          <a:xfrm>
            <a:off x="548640" y="438912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Significado"/>
          <p:cNvSpPr txBox="1"/>
          <p:nvPr/>
        </p:nvSpPr>
        <p:spPr>
          <a:xfrm>
            <a:off x="86868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Significa:  </a:t>
            </a:r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¿Ella habla inglés?</a:t>
            </a:r>
            <a:endParaRPr lang="en-US" sz="2800" dirty="0"/>
          </a:p>
        </p:txBody>
      </p:sp>
      <p:sp>
        <p:nvSpPr>
          <p:cNvPr id="21" name="Respuesta corta"/>
          <p:cNvSpPr txBox="1"/>
          <p:nvPr/>
        </p:nvSpPr>
        <p:spPr>
          <a:xfrm>
            <a:off x="868680" y="49834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Respuesta corta:  </a:t>
            </a:r>
            <a:pPr indent="0" marL="0">
              <a:buNone/>
            </a:pPr>
            <a:r>
              <a:rPr lang="en-US" sz="24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Yes, she does.  /  No, she doesn’t.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EL ERROR MÁS COMÚN</a:t>
            </a:r>
            <a:endParaRPr lang="en-US" sz="3600" dirty="0"/>
          </a:p>
        </p:txBody>
      </p:sp>
      <p:sp>
        <p:nvSpPr>
          <p:cNvPr id="7" name="Incorrecto fondo"/>
          <p:cNvSpPr/>
          <p:nvPr/>
        </p:nvSpPr>
        <p:spPr>
          <a:xfrm>
            <a:off x="548640" y="18745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8" name="Ícono incorrecto" descr="Incorre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548640" cy="548640"/>
          </a:xfrm>
          <a:prstGeom prst="rect">
            <a:avLst/>
          </a:prstGeom>
        </p:spPr>
      </p:pic>
      <p:sp>
        <p:nvSpPr>
          <p:cNvPr id="9" name="Etiqueta incorrecto"/>
          <p:cNvSpPr txBox="1"/>
          <p:nvPr/>
        </p:nvSpPr>
        <p:spPr>
          <a:xfrm>
            <a:off x="155448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Incorrecto</a:t>
            </a:r>
            <a:endParaRPr lang="en-US" sz="2400" dirty="0"/>
          </a:p>
        </p:txBody>
      </p:sp>
      <p:sp>
        <p:nvSpPr>
          <p:cNvPr id="10" name="Frase incorrecta"/>
          <p:cNvSpPr txBox="1"/>
          <p:nvPr/>
        </p:nvSpPr>
        <p:spPr>
          <a:xfrm>
            <a:off x="822960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Does she works here?</a:t>
            </a:r>
            <a:endParaRPr lang="en-US" sz="2800" dirty="0"/>
          </a:p>
        </p:txBody>
      </p:sp>
      <p:sp>
        <p:nvSpPr>
          <p:cNvPr id="11" name="Correcto fondo"/>
          <p:cNvSpPr/>
          <p:nvPr/>
        </p:nvSpPr>
        <p:spPr>
          <a:xfrm>
            <a:off x="6199632" y="18745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2" name="Ícono correcto" descr="Correc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057400"/>
            <a:ext cx="548640" cy="548640"/>
          </a:xfrm>
          <a:prstGeom prst="rect">
            <a:avLst/>
          </a:prstGeom>
        </p:spPr>
      </p:pic>
      <p:sp>
        <p:nvSpPr>
          <p:cNvPr id="13" name="Etiqueta correcto"/>
          <p:cNvSpPr txBox="1"/>
          <p:nvPr/>
        </p:nvSpPr>
        <p:spPr>
          <a:xfrm>
            <a:off x="7205472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Correcto</a:t>
            </a:r>
            <a:endParaRPr lang="en-US" sz="2400" dirty="0"/>
          </a:p>
        </p:txBody>
      </p:sp>
      <p:sp>
        <p:nvSpPr>
          <p:cNvPr id="14" name="Frase correcta"/>
          <p:cNvSpPr txBox="1"/>
          <p:nvPr/>
        </p:nvSpPr>
        <p:spPr>
          <a:xfrm>
            <a:off x="6473952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Does she work here?</a:t>
            </a:r>
            <a:endParaRPr lang="en-US" sz="2800" dirty="0"/>
          </a:p>
        </p:txBody>
      </p:sp>
      <p:sp>
        <p:nvSpPr>
          <p:cNvPr id="15" name="Barra tip"/>
          <p:cNvSpPr/>
          <p:nvPr/>
        </p:nvSpPr>
        <p:spPr>
          <a:xfrm>
            <a:off x="548640" y="4160520"/>
            <a:ext cx="1109167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Tip Mercedes"/>
          <p:cNvSpPr txBox="1"/>
          <p:nvPr/>
        </p:nvSpPr>
        <p:spPr>
          <a:xfrm>
            <a:off x="868680" y="420624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Tip Mercedes:  </a:t>
            </a:r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“Does” ya lleva la -s, así que el verbo no la repite. Se pronuncia /dʌz/ y rima con buzz.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NEGATIVOS: DON'T Y DOESN'T</a:t>
            </a:r>
            <a:endParaRPr lang="en-US" sz="3600" dirty="0"/>
          </a:p>
        </p:txBody>
      </p:sp>
      <p:sp>
        <p:nvSpPr>
          <p:cNvPr id="7" name="Chip 1 fondo"/>
          <p:cNvSpPr/>
          <p:nvPr/>
        </p:nvSpPr>
        <p:spPr>
          <a:xfrm>
            <a:off x="54864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Chip 1 frase"/>
          <p:cNvSpPr/>
          <p:nvPr/>
        </p:nvSpPr>
        <p:spPr>
          <a:xfrm>
            <a:off x="54864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Chip 1 texto frase"/>
          <p:cNvSpPr txBox="1"/>
          <p:nvPr/>
        </p:nvSpPr>
        <p:spPr>
          <a:xfrm>
            <a:off x="73152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don’t</a:t>
            </a:r>
            <a:endParaRPr lang="en-US" sz="2800" dirty="0"/>
          </a:p>
        </p:txBody>
      </p:sp>
      <p:sp>
        <p:nvSpPr>
          <p:cNvPr id="10" name="Chip 1 descripción"/>
          <p:cNvSpPr txBox="1"/>
          <p:nvPr/>
        </p:nvSpPr>
        <p:spPr>
          <a:xfrm>
            <a:off x="77724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 I, you, we, they</a:t>
            </a:r>
            <a:endParaRPr lang="en-US" sz="2400" dirty="0"/>
          </a:p>
        </p:txBody>
      </p:sp>
      <p:sp>
        <p:nvSpPr>
          <p:cNvPr id="11" name="Chip 2 fondo"/>
          <p:cNvSpPr/>
          <p:nvPr/>
        </p:nvSpPr>
        <p:spPr>
          <a:xfrm>
            <a:off x="429768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Chip 2 frase"/>
          <p:cNvSpPr/>
          <p:nvPr/>
        </p:nvSpPr>
        <p:spPr>
          <a:xfrm>
            <a:off x="429768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Chip 2 texto frase"/>
          <p:cNvSpPr txBox="1"/>
          <p:nvPr/>
        </p:nvSpPr>
        <p:spPr>
          <a:xfrm>
            <a:off x="448056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doesn’t</a:t>
            </a:r>
            <a:endParaRPr lang="en-US" sz="2800" dirty="0"/>
          </a:p>
        </p:txBody>
      </p:sp>
      <p:sp>
        <p:nvSpPr>
          <p:cNvPr id="14" name="Chip 2 descripción"/>
          <p:cNvSpPr txBox="1"/>
          <p:nvPr/>
        </p:nvSpPr>
        <p:spPr>
          <a:xfrm>
            <a:off x="452628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 he, she, it</a:t>
            </a:r>
            <a:endParaRPr lang="en-US" sz="2400" dirty="0"/>
          </a:p>
        </p:txBody>
      </p:sp>
      <p:sp>
        <p:nvSpPr>
          <p:cNvPr id="15" name="Chip 3 fondo"/>
          <p:cNvSpPr/>
          <p:nvPr/>
        </p:nvSpPr>
        <p:spPr>
          <a:xfrm>
            <a:off x="804672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Chip 3 frase"/>
          <p:cNvSpPr/>
          <p:nvPr/>
        </p:nvSpPr>
        <p:spPr>
          <a:xfrm>
            <a:off x="804672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Chip 3 texto frase"/>
          <p:cNvSpPr txBox="1"/>
          <p:nvPr/>
        </p:nvSpPr>
        <p:spPr>
          <a:xfrm>
            <a:off x="822960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+ verbo base</a:t>
            </a:r>
            <a:endParaRPr lang="en-US" sz="2800" dirty="0"/>
          </a:p>
        </p:txBody>
      </p:sp>
      <p:sp>
        <p:nvSpPr>
          <p:cNvPr id="18" name="Chip 3 descripción"/>
          <p:cNvSpPr txBox="1"/>
          <p:nvPr/>
        </p:nvSpPr>
        <p:spPr>
          <a:xfrm>
            <a:off x="827532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work, like, speak</a:t>
            </a:r>
            <a:endParaRPr lang="en-US" sz="2400" dirty="0"/>
          </a:p>
        </p:txBody>
      </p:sp>
      <p:sp>
        <p:nvSpPr>
          <p:cNvPr id="19" name="Barra ejemplos"/>
          <p:cNvSpPr/>
          <p:nvPr/>
        </p:nvSpPr>
        <p:spPr>
          <a:xfrm>
            <a:off x="548640" y="438912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Ejemplos"/>
          <p:cNvSpPr txBox="1"/>
          <p:nvPr/>
        </p:nvSpPr>
        <p:spPr>
          <a:xfrm>
            <a:off x="868680" y="4389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i="1" dirty="0">
                <a:solidFill>
                  <a:schemeClr val="accent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don’t like tea.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She doesn’t work today.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REPITE DESPUÉS DE MÍ</a:t>
            </a:r>
            <a:endParaRPr lang="en-US" sz="3600" dirty="0"/>
          </a:p>
        </p:txBody>
      </p:sp>
      <p:sp>
        <p:nvSpPr>
          <p:cNvPr id="7" name="Frases eco"/>
          <p:cNvSpPr/>
          <p:nvPr/>
        </p:nvSpPr>
        <p:spPr>
          <a:xfrm>
            <a:off x="548640" y="1874520"/>
            <a:ext cx="786384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Lista eco"/>
          <p:cNvSpPr txBox="1"/>
          <p:nvPr/>
        </p:nvSpPr>
        <p:spPr>
          <a:xfrm>
            <a:off x="868680" y="1874520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  Do you like coffee?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  Does she speak English?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  He doesn’t work on Sunday.</a:t>
            </a:r>
            <a:endParaRPr lang="en-US" sz="2800" dirty="0"/>
          </a:p>
        </p:txBody>
      </p:sp>
      <p:sp>
        <p:nvSpPr>
          <p:cNvPr id="9" name="Instrucción eco"/>
          <p:cNvSpPr/>
          <p:nvPr/>
        </p:nvSpPr>
        <p:spPr>
          <a:xfrm>
            <a:off x="548640" y="4800600"/>
            <a:ext cx="78638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0" name="Ícono audio" descr="Altavo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19472"/>
            <a:ext cx="548640" cy="548640"/>
          </a:xfrm>
          <a:prstGeom prst="rect">
            <a:avLst/>
          </a:prstGeom>
        </p:spPr>
      </p:pic>
      <p:sp>
        <p:nvSpPr>
          <p:cNvPr id="11" name="Texto instrucción"/>
          <p:cNvSpPr txBox="1"/>
          <p:nvPr/>
        </p:nvSpPr>
        <p:spPr>
          <a:xfrm>
            <a:off x="1600200" y="48006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Escucha, pausa y repite.</a:t>
            </a:r>
            <a:endParaRPr lang="en-US" sz="2600" dirty="0"/>
          </a:p>
        </p:txBody>
      </p:sp>
      <p:sp>
        <p:nvSpPr>
          <p:cNvPr id="12" name="Marco avatar"/>
          <p:cNvSpPr/>
          <p:nvPr/>
        </p:nvSpPr>
        <p:spPr>
          <a:xfrm>
            <a:off x="8686800" y="1874520"/>
            <a:ext cx="2963647" cy="3657600"/>
          </a:xfrm>
          <a:prstGeom prst="roundRect">
            <a:avLst>
              <a:gd name="adj" fmla="val 370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Avatar Mercedes" descr="Mercedes, profesora de MMercedesEngl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965960"/>
            <a:ext cx="2780767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¿DO O DOES?</a:t>
            </a:r>
            <a:endParaRPr lang="en-US" sz="3600" dirty="0"/>
          </a:p>
        </p:txBody>
      </p:sp>
      <p:sp>
        <p:nvSpPr>
          <p:cNvPr id="7" name="Pregunta 1 fondo"/>
          <p:cNvSpPr/>
          <p:nvPr/>
        </p:nvSpPr>
        <p:spPr>
          <a:xfrm>
            <a:off x="548640" y="187452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Pregunta 1 número"/>
          <p:cNvSpPr txBox="1"/>
          <p:nvPr/>
        </p:nvSpPr>
        <p:spPr>
          <a:xfrm>
            <a:off x="777240" y="187452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Pregunta 1 frase"/>
          <p:cNvSpPr txBox="1"/>
          <p:nvPr/>
        </p:nvSpPr>
        <p:spPr>
          <a:xfrm>
            <a:off x="1417320" y="1874520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____  </a:t>
            </a:r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 speak Spanish?</a:t>
            </a:r>
            <a:endParaRPr lang="en-US" sz="2400" dirty="0"/>
          </a:p>
        </p:txBody>
      </p:sp>
      <p:sp>
        <p:nvSpPr>
          <p:cNvPr id="10" name="Pregunta 2 fondo"/>
          <p:cNvSpPr/>
          <p:nvPr/>
        </p:nvSpPr>
        <p:spPr>
          <a:xfrm>
            <a:off x="6199632" y="187452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Pregunta 2 número"/>
          <p:cNvSpPr txBox="1"/>
          <p:nvPr/>
        </p:nvSpPr>
        <p:spPr>
          <a:xfrm>
            <a:off x="6428232" y="187452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Pregunta 2 frase"/>
          <p:cNvSpPr txBox="1"/>
          <p:nvPr/>
        </p:nvSpPr>
        <p:spPr>
          <a:xfrm>
            <a:off x="7068312" y="1874520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____  </a:t>
            </a:r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she live here?</a:t>
            </a:r>
            <a:endParaRPr lang="en-US" sz="2400" dirty="0"/>
          </a:p>
        </p:txBody>
      </p:sp>
      <p:sp>
        <p:nvSpPr>
          <p:cNvPr id="13" name="Pregunta 3 fondo"/>
          <p:cNvSpPr/>
          <p:nvPr/>
        </p:nvSpPr>
        <p:spPr>
          <a:xfrm>
            <a:off x="548640" y="361188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Pregunta 3 número"/>
          <p:cNvSpPr txBox="1"/>
          <p:nvPr/>
        </p:nvSpPr>
        <p:spPr>
          <a:xfrm>
            <a:off x="777240" y="361188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Pregunta 3 frase"/>
          <p:cNvSpPr txBox="1"/>
          <p:nvPr/>
        </p:nvSpPr>
        <p:spPr>
          <a:xfrm>
            <a:off x="1417320" y="3611880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____  </a:t>
            </a:r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they work on Monday?</a:t>
            </a:r>
            <a:endParaRPr lang="en-US" sz="2400" dirty="0"/>
          </a:p>
        </p:txBody>
      </p:sp>
      <p:sp>
        <p:nvSpPr>
          <p:cNvPr id="16" name="Pregunta 4 fondo"/>
          <p:cNvSpPr/>
          <p:nvPr/>
        </p:nvSpPr>
        <p:spPr>
          <a:xfrm>
            <a:off x="6199632" y="361188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Pregunta 4 número"/>
          <p:cNvSpPr txBox="1"/>
          <p:nvPr/>
        </p:nvSpPr>
        <p:spPr>
          <a:xfrm>
            <a:off x="6428232" y="361188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Pregunta 4 frase"/>
          <p:cNvSpPr txBox="1"/>
          <p:nvPr/>
        </p:nvSpPr>
        <p:spPr>
          <a:xfrm>
            <a:off x="7068312" y="3611880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____  </a:t>
            </a:r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 play soccer?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RESPUESTAS</a:t>
            </a:r>
            <a:endParaRPr lang="en-US" sz="3600" dirty="0"/>
          </a:p>
        </p:txBody>
      </p:sp>
      <p:sp>
        <p:nvSpPr>
          <p:cNvPr id="7" name="Respuestas fondo"/>
          <p:cNvSpPr/>
          <p:nvPr/>
        </p:nvSpPr>
        <p:spPr>
          <a:xfrm>
            <a:off x="548640" y="1874520"/>
            <a:ext cx="11091672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Respuesta 1"/>
          <p:cNvSpPr txBox="1"/>
          <p:nvPr/>
        </p:nvSpPr>
        <p:spPr>
          <a:xfrm>
            <a:off x="868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 you speak Spanish?</a:t>
            </a:r>
            <a:endParaRPr lang="en-US" sz="2600" dirty="0"/>
          </a:p>
        </p:txBody>
      </p:sp>
      <p:sp>
        <p:nvSpPr>
          <p:cNvPr id="9" name="Respuesta 2"/>
          <p:cNvSpPr txBox="1"/>
          <p:nvPr/>
        </p:nvSpPr>
        <p:spPr>
          <a:xfrm>
            <a:off x="63550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Does she live here?</a:t>
            </a:r>
            <a:endParaRPr lang="en-US" sz="2600" dirty="0"/>
          </a:p>
        </p:txBody>
      </p:sp>
      <p:sp>
        <p:nvSpPr>
          <p:cNvPr id="10" name="Respuesta 3"/>
          <p:cNvSpPr txBox="1"/>
          <p:nvPr/>
        </p:nvSpPr>
        <p:spPr>
          <a:xfrm>
            <a:off x="868680" y="3154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 they work on Monday?</a:t>
            </a:r>
            <a:endParaRPr lang="en-US" sz="2600" dirty="0"/>
          </a:p>
        </p:txBody>
      </p:sp>
      <p:sp>
        <p:nvSpPr>
          <p:cNvPr id="11" name="Respuesta 4"/>
          <p:cNvSpPr txBox="1"/>
          <p:nvPr/>
        </p:nvSpPr>
        <p:spPr>
          <a:xfrm>
            <a:off x="6355080" y="3154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Does he play soccer?</a:t>
            </a:r>
            <a:endParaRPr lang="en-US" sz="2600" dirty="0"/>
          </a:p>
        </p:txBody>
      </p:sp>
      <p:sp>
        <p:nvSpPr>
          <p:cNvPr id="12" name="Regla final"/>
          <p:cNvSpPr/>
          <p:nvPr/>
        </p:nvSpPr>
        <p:spPr>
          <a:xfrm>
            <a:off x="548640" y="4526280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Regla final texto"/>
          <p:cNvSpPr txBox="1"/>
          <p:nvPr/>
        </p:nvSpPr>
        <p:spPr>
          <a:xfrm>
            <a:off x="868680" y="45262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I, you, we, they → do.  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He, she, it → does.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TU TURNO: LA ENTREVISTA</a:t>
            </a:r>
            <a:endParaRPr lang="en-US" sz="3600" dirty="0"/>
          </a:p>
        </p:txBody>
      </p:sp>
      <p:sp>
        <p:nvSpPr>
          <p:cNvPr id="7" name="Escucha fondo"/>
          <p:cNvSpPr/>
          <p:nvPr/>
        </p:nvSpPr>
        <p:spPr>
          <a:xfrm>
            <a:off x="548640" y="1874520"/>
            <a:ext cx="566928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8" name="Ícono audio" descr="Altavo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640080" cy="640080"/>
          </a:xfrm>
          <a:prstGeom prst="rect">
            <a:avLst/>
          </a:prstGeom>
        </p:spPr>
      </p:pic>
      <p:sp>
        <p:nvSpPr>
          <p:cNvPr id="9" name="Escucha texto"/>
          <p:cNvSpPr txBox="1"/>
          <p:nvPr/>
        </p:nvSpPr>
        <p:spPr>
          <a:xfrm>
            <a:off x="1737360" y="187452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Escucha la pregunta.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Piensa durante 5 segundos.</a:t>
            </a:r>
            <a:endParaRPr lang="en-US" sz="2600" dirty="0"/>
          </a:p>
        </p:txBody>
      </p:sp>
      <p:sp>
        <p:nvSpPr>
          <p:cNvPr id="10" name="Responde fondo"/>
          <p:cNvSpPr/>
          <p:nvPr/>
        </p:nvSpPr>
        <p:spPr>
          <a:xfrm>
            <a:off x="548640" y="3840480"/>
            <a:ext cx="566928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1" name="Ícono pregunta" descr="Pregu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434840"/>
            <a:ext cx="640080" cy="640080"/>
          </a:xfrm>
          <a:prstGeom prst="rect">
            <a:avLst/>
          </a:prstGeom>
        </p:spPr>
      </p:pic>
      <p:sp>
        <p:nvSpPr>
          <p:cNvPr id="12" name="Responde texto"/>
          <p:cNvSpPr txBox="1"/>
          <p:nvPr/>
        </p:nvSpPr>
        <p:spPr>
          <a:xfrm>
            <a:off x="1737360" y="38404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Responde en voz alta con una respuesta corta.</a:t>
            </a:r>
            <a:endParaRPr lang="en-US" sz="2600" dirty="0"/>
          </a:p>
        </p:txBody>
      </p:sp>
      <p:sp>
        <p:nvSpPr>
          <p:cNvPr id="13" name="Ayuda fondo"/>
          <p:cNvSpPr/>
          <p:nvPr/>
        </p:nvSpPr>
        <p:spPr>
          <a:xfrm>
            <a:off x="6492240" y="1874520"/>
            <a:ext cx="5148072" cy="3703320"/>
          </a:xfrm>
          <a:prstGeom prst="roundRect">
            <a:avLst>
              <a:gd name="adj" fmla="val 2963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Ayuda etiqueta"/>
          <p:cNvSpPr txBox="1"/>
          <p:nvPr/>
        </p:nvSpPr>
        <p:spPr>
          <a:xfrm>
            <a:off x="676656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Respuestas cortas</a:t>
            </a:r>
            <a:endParaRPr lang="en-US" sz="2200" dirty="0"/>
          </a:p>
        </p:txBody>
      </p:sp>
      <p:sp>
        <p:nvSpPr>
          <p:cNvPr id="15" name="Ayuda frases"/>
          <p:cNvSpPr txBox="1"/>
          <p:nvPr/>
        </p:nvSpPr>
        <p:spPr>
          <a:xfrm>
            <a:off x="6766560" y="260604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Yes, I do.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No, I don’t.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Yes, she does.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No, she doesn’t.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3"/>
          <p:cNvSpPr/>
          <p:nvPr>
            <p:ph idx="103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HOY APRENDISTE</a:t>
            </a:r>
            <a:endParaRPr lang="en-US" sz="3600" dirty="0"/>
          </a:p>
        </p:txBody>
      </p:sp>
      <p:sp>
        <p:nvSpPr>
          <p:cNvPr id="7" name="Regla do"/>
          <p:cNvSpPr/>
          <p:nvPr/>
        </p:nvSpPr>
        <p:spPr>
          <a:xfrm>
            <a:off x="548640" y="1874520"/>
            <a:ext cx="78638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Regla do texto"/>
          <p:cNvSpPr txBox="1"/>
          <p:nvPr/>
        </p:nvSpPr>
        <p:spPr>
          <a:xfrm>
            <a:off x="868680" y="18745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I, you, we, they  →  do</a:t>
            </a:r>
            <a:endParaRPr lang="en-US" sz="3000" dirty="0"/>
          </a:p>
        </p:txBody>
      </p:sp>
      <p:sp>
        <p:nvSpPr>
          <p:cNvPr id="9" name="Regla does"/>
          <p:cNvSpPr/>
          <p:nvPr/>
        </p:nvSpPr>
        <p:spPr>
          <a:xfrm>
            <a:off x="548640" y="3154680"/>
            <a:ext cx="786384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Regla does texto"/>
          <p:cNvSpPr txBox="1"/>
          <p:nvPr/>
        </p:nvSpPr>
        <p:spPr>
          <a:xfrm>
            <a:off x="868680" y="315468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he, she, it  →  does</a:t>
            </a:r>
            <a:endParaRPr lang="en-US" sz="3000" dirty="0"/>
          </a:p>
        </p:txBody>
      </p:sp>
      <p:sp>
        <p:nvSpPr>
          <p:cNvPr id="11" name="Pregunta de salida"/>
          <p:cNvSpPr/>
          <p:nvPr/>
        </p:nvSpPr>
        <p:spPr>
          <a:xfrm>
            <a:off x="548640" y="4434840"/>
            <a:ext cx="786384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Pregunta"/>
          <p:cNvSpPr txBox="1"/>
          <p:nvPr/>
        </p:nvSpPr>
        <p:spPr>
          <a:xfrm>
            <a:off x="868680" y="443484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Pregunta de salida: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Corrige: He don’t like tea.</a:t>
            </a:r>
            <a:endParaRPr lang="en-US" sz="2400" dirty="0"/>
          </a:p>
        </p:txBody>
      </p:sp>
      <p:sp>
        <p:nvSpPr>
          <p:cNvPr id="13" name="Marco avatar"/>
          <p:cNvSpPr/>
          <p:nvPr/>
        </p:nvSpPr>
        <p:spPr>
          <a:xfrm>
            <a:off x="8686800" y="1874520"/>
            <a:ext cx="2963647" cy="3657600"/>
          </a:xfrm>
          <a:prstGeom prst="roundRect">
            <a:avLst>
              <a:gd name="adj" fmla="val 370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Avatar Mercedes" descr="Mercedes, profesora de MMercedesEngl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965960"/>
            <a:ext cx="2780767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MMercedesEnglish">
  <a:themeElements>
    <a:clrScheme name="MMercedesEnglish">
      <a:dk1>
        <a:srgbClr val="0D1B3E"/>
      </a:dk1>
      <a:lt1>
        <a:srgbClr val="FFFFFF"/>
      </a:lt1>
      <a:dk2>
        <a:srgbClr val="BE9100"/>
      </a:dk2>
      <a:lt2>
        <a:srgbClr val="FFFBF0"/>
      </a:lt2>
      <a:accent1>
        <a:srgbClr val="FFD23F"/>
      </a:accent1>
      <a:accent2>
        <a:srgbClr val="0D1B3E"/>
      </a:accent2>
      <a:accent3>
        <a:srgbClr val="BE9100"/>
      </a:accent3>
      <a:accent4>
        <a:srgbClr val="FFFBF0"/>
      </a:accent4>
      <a:accent5>
        <a:srgbClr val="FFFFFF"/>
      </a:accent5>
      <a:accent6>
        <a:srgbClr val="FFD23F"/>
      </a:accent6>
      <a:hlink>
        <a:srgbClr val="0D1B3E"/>
      </a:hlink>
      <a:folHlink>
        <a:srgbClr val="BE9100"/>
      </a:folHlink>
    </a:clrScheme>
    <a:fontScheme name="MMercedesEnglish">
      <a:majorFont>
        <a:latin typeface="Big Shoulder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Work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Microclase: Sorry, could you say that again?</dc:title>
  <dc:subject>PptxGenJS Presentation</dc:subject>
  <dc:creator>MMercedesEnglish</dc:creator>
  <cp:lastModifiedBy>MMercedesEnglish</cp:lastModifiedBy>
  <cp:revision>1</cp:revision>
  <dcterms:created xsi:type="dcterms:W3CDTF">2026-10-08T14:52:26Z</dcterms:created>
  <dcterms:modified xsi:type="dcterms:W3CDTF">2026-10-08T14:52:26Z</dcterms:modified>
</cp:coreProperties>
</file>